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373" r:id="rId15"/>
    <p:sldId id="270" r:id="rId28"/>
    <p:sldId id="263" r:id="rId22"/>
    <p:sldId id="266" r:id="rId23"/>
    <p:sldId id="264" r:id="rId24"/>
    <p:sldId id="371" r:id="rId17"/>
    <p:sldId id="370" r:id="rId16"/>
    <p:sldId id="262" r:id="rId21"/>
    <p:sldId id="372" r:id="rId14"/>
    <p:sldId id="260" r:id="rId19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Первый СТОП по каждому объекту в габарите, 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СТОП, м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№1 куб</c:v>
                </c:pt>
                <c:pt idx="1">
                  <c:v>№2 0,3 м</c:v>
                </c:pt>
                <c:pt idx="2">
                  <c:v>№3 0,3 м</c:v>
                </c:pt>
                <c:pt idx="3">
                  <c:v>№4 0,3 м</c:v>
                </c:pt>
                <c:pt idx="4">
                  <c:v>№6 короб</c:v>
                </c:pt>
                <c:pt idx="5">
                  <c:v>№8 у свода</c:v>
                </c:pt>
                <c:pt idx="6">
                  <c:v>№9 плита</c:v>
                </c:pt>
                <c:pt idx="7">
                  <c:v>№10 стержень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98</c:v>
                </c:pt>
                <c:pt idx="1">
                  <c:v>44</c:v>
                </c:pt>
                <c:pt idx="2">
                  <c:v>48</c:v>
                </c:pt>
                <c:pt idx="3">
                  <c:v>33</c:v>
                </c:pt>
                <c:pt idx="4">
                  <c:v>186</c:v>
                </c:pt>
                <c:pt idx="5">
                  <c:v>54</c:v>
                </c:pt>
                <c:pt idx="6">
                  <c:v>100</c:v>
                </c:pt>
                <c:pt idx="7">
                  <c:v>22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C1D22"/>
                </a:solidFill>
              </a:rPr>
              <a:t>Кадров с ложным СТОП, %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исходная версия</c:v>
                </c:pt>
              </c:strCache>
            </c:strRef>
          </c:tx>
          <c:spPr>
            <a:solidFill>
              <a:srgbClr val="8A83D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пустые записи, 2287 кадров</c:v>
                </c:pt>
                <c:pt idx="1">
                  <c:v>new_data, 8 отрезков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12.2</c:v>
                </c:pt>
                <c:pt idx="1">
                  <c:v>14.6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пустые записи, 2287 кадров</c:v>
                </c:pt>
                <c:pt idx="1">
                  <c:v>new_data, 8 отрезков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2.0</c:v>
                </c:pt>
                <c:pt idx="1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C1D22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D22"/>
              </a:solidFill>
            </a:defRPr>
          </a:pPr>
        </a:p>
      </c:txPr>
    </c:legend>
    <c:dispBlanksAs val="gap"/>
  </c:chart>
  <c:txPr>
    <a:bodyPr/>
    <a:lstStyle/>
    <a:p>
      <a:pPr>
        <a:defRPr sz="1200"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C1D22"/>
                </a:solidFill>
              </a:rPr>
              <a:t>Первый СТОП при подъезде со 170 м, 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исходная версия</c:v>
                </c:pt>
              </c:strCache>
            </c:strRef>
          </c:tx>
          <c:spPr>
            <a:solidFill>
              <a:srgbClr val="8A83D1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человек стоит</c:v>
                </c:pt>
                <c:pt idx="1">
                  <c:v>куб 0,4 м</c:v>
                </c:pt>
                <c:pt idx="2">
                  <c:v>человек лежит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118</c:v>
                </c:pt>
                <c:pt idx="2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человек стоит</c:v>
                </c:pt>
                <c:pt idx="1">
                  <c:v>куб 0,4 м</c:v>
                </c:pt>
                <c:pt idx="2">
                  <c:v>человек лежит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160</c:v>
                </c:pt>
                <c:pt idx="1">
                  <c:v>147</c:v>
                </c:pt>
                <c:pt idx="2">
                  <c:v>152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C1D22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D22"/>
              </a:solidFill>
            </a:defRPr>
          </a:pPr>
        </a:p>
      </c:txPr>
    </c:legend>
    <c:dispBlanksAs val="gap"/>
  </c:chart>
  <c:txPr>
    <a:bodyPr/>
    <a:lstStyle/>
    <a:p>
      <a:pPr>
        <a:defRPr sz="1200"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Задержка p95, мс — бюджет кадра при 10 Гц: 100 мс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p95, мс</c:v>
                </c:pt>
              </c:strCache>
            </c:strRef>
          </c:tx>
          <c:spPr>
            <a:solidFill>
              <a:srgbClr val="FFD6E4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офлайн, полный кадр</c:v>
                </c:pt>
                <c:pt idx="1">
                  <c:v>e2e, кадр 23 МБ</c:v>
                </c:pt>
                <c:pt idx="2">
                  <c:v>e2e, кадр 8 МБ</c:v>
                </c:pt>
                <c:pt idx="3">
                  <c:v>узел, кадр 23 МБ</c:v>
                </c:pt>
                <c:pt idx="4">
                  <c:v>узел, кадр 8 МБ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</c:v>
                </c:pt>
                <c:pt idx="1">
                  <c:v>47</c:v>
                </c:pt>
                <c:pt idx="2">
                  <c:v>30</c:v>
                </c:pt>
                <c:pt idx="3">
                  <c:v>20</c:v>
                </c:pt>
                <c:pt idx="4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11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ontserrat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Обнаружение препятствий</a:t>
            </a:r>
          </a:p>
          <a:p>
            <a:pPr marL="268288" indent="0"/>
            <a:r>
              <a:rPr lang="ru-RU"/>
              <a:t>в тоннеле метро</a:t>
            </a:r>
          </a:p>
          <a:p>
            <a:pPr marL="268288" indent="0"/>
            <a:r>
              <a:rPr lang="ru-RU"/>
              <a:t>по 3D-лидару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Команда «Голуби»  ·  кейс №5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512681"/>
            <a:ext cx="2609165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5186" y="1262489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900" lang="ru-RU">
                <a:solidFill>
                  <a:srgbClr val="FFFFFF"/>
                </a:solidFill>
              </a:rPr>
              <a:t>Постановщик: Департамент транспорта и развития дорожно-транспортной инфраструктуры Москвы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Без обучения и без карты тоннеля: не узнаём объекты, а ищем всё, что попало в габарит. Поэтому работает на незнакомых тоннелях и на любом предмете — от кабеля до человека.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Аргун Владислав Гарриевич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Команда: </a:t>
            </a:r>
            <a:r>
              <a:rPr lang="ru-RU" dirty="0">
                <a:solidFill>
                  <a:schemeClr val="tx1"/>
                </a:solidFill>
              </a:rPr>
              <a:t>«Голуби»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/>
              <a:t>tunnel_od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Детектор в каждом кадре строит ось своего пути — по рельсам, дальше по стенам — и проверяет над ней габарит шириной 2,0 м и высотой до 3,0 м. На каждый кадр: СТОП / ВНИМАНИЕ / СВОБОДНО и расстояние до препятствия.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58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ИП</a:t>
            </a:r>
          </a:p>
        </p:txBody>
      </p:sp>
      <p:sp>
        <p:nvSpPr>
          <p:cNvPr id="20" name="Oval 19"/>
          <p:cNvSpPr/>
          <p:nvPr/>
        </p:nvSpPr>
        <p:spPr>
          <a:xfrm>
            <a:off x="20574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МС</a:t>
            </a:r>
          </a:p>
        </p:txBody>
      </p:sp>
      <p:sp>
        <p:nvSpPr>
          <p:cNvPr id="21" name="Oval 20"/>
          <p:cNvSpPr/>
          <p:nvPr/>
        </p:nvSpPr>
        <p:spPr>
          <a:xfrm>
            <a:off x="3429000" y="1234440"/>
            <a:ext cx="1005840" cy="1005840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ВА</a:t>
            </a:r>
          </a:p>
        </p:txBody>
      </p:sp>
      <p:sp>
        <p:nvSpPr>
          <p:cNvPr id="22" name="Oval 21"/>
          <p:cNvSpPr/>
          <p:nvPr/>
        </p:nvSpPr>
        <p:spPr>
          <a:xfrm>
            <a:off x="48006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3774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Команда «Голуби»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0353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0885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1417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49822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237374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/>
              <a:t>УЧАСТНИКИ</a:t>
            </a:r>
          </a:p>
        </p:txBody>
      </p:sp>
      <p:sp>
        <p:nvSpPr>
          <p:cNvPr id="65" name="Oval 64"/>
          <p:cNvSpPr/>
          <p:nvPr/>
        </p:nvSpPr>
        <p:spPr>
          <a:xfrm>
            <a:off x="1909699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ИП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35379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Павлов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89660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Иван Александрович</a:t>
            </a:r>
          </a:p>
        </p:txBody>
      </p:sp>
      <p:sp>
        <p:nvSpPr>
          <p:cNvPr id="68" name="Oval 67"/>
          <p:cNvSpPr/>
          <p:nvPr/>
        </p:nvSpPr>
        <p:spPr>
          <a:xfrm>
            <a:off x="4215018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МС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40698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Спирин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94977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Макар Юрьевич</a:t>
            </a:r>
          </a:p>
        </p:txBody>
      </p:sp>
      <p:sp>
        <p:nvSpPr>
          <p:cNvPr id="71" name="Oval 70"/>
          <p:cNvSpPr/>
          <p:nvPr/>
        </p:nvSpPr>
        <p:spPr>
          <a:xfrm>
            <a:off x="6520336" y="1920240"/>
            <a:ext cx="1371600" cy="1371600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46016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Аргун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00296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Владислав Гарриевич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66056" y="50749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капитан</a:t>
            </a:r>
          </a:p>
        </p:txBody>
      </p:sp>
      <p:sp>
        <p:nvSpPr>
          <p:cNvPr id="75" name="Oval 74"/>
          <p:cNvSpPr/>
          <p:nvPr/>
        </p:nvSpPr>
        <p:spPr>
          <a:xfrm>
            <a:off x="8825655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51335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Киреев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5615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Станислав Дмитриевич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408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/>
              <a:t>КОМАНДА И ЗАДАЧА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4480560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600">
                <a:solidFill>
                  <a:schemeClr val="tx1"/>
                </a:solidFill>
              </a:rPr>
              <a:t>Реальное препятствие в данных одно → дальность меряли синтетикой, вставленной в реальные кадры лучами датчика. Одометрии нет → скорость поезда оцениваем по самой сцене. Ложные тревоги в кривых → основные силы ушли в модель пути.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3703320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214884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600">
                <a:solidFill>
                  <a:schemeClr val="tx1"/>
                </a:solidFill>
              </a:rPr>
              <a:t>Реальная задача с внедрением: беспилотный поезд должен видеть препятствие не хуже машиниста. Разметки нет — решает инженерия, а не размер датасета.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1371600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342900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1371600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3703320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Вход — облако Hesai 128E3X, 10 Гц, ROS 2 Humble</a:t>
            </a:r>
          </a:p>
          <a:p>
            <a:r>
              <a:rPr lang="ru-RU" sz="1400" dirty="0">
                <a:solidFill>
                  <a:schemeClr val="tx1"/>
                </a:solidFill>
              </a:rPr>
              <a:t>Ось своего пути в каждом кадре: по рельсам до ~40 м, дальше по стенам до 150–200 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Габарит шириной 2,0 м, высотой 3,0 м в ближней зоне → объекты → накопление по кадрам с учётом движения поезда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Выход /tunnel_od/result: СТОП / ВНИМАНИЕ / СВОБОДНО / нет данных + дистанция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Запуск: docker compose up play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«Второй машинист» для беспилотного поезда: стандартный ROS-топик, встраивается в существующую систему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CPU без GPU — путь к бортовому вычислителю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 нужны разметка и карта тоннеля — новые линии без переобучения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объекты у края габарита, отклоняющийся путь на стрелках, проверка на реальных проездах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10058400" cy="552061"/>
          </a:xfrm>
        </p:spPr>
        <p:txBody>
          <a:bodyPr/>
          <a:lstStyle/>
          <a:p>
            <a:r>
              <a:rPr lang="ru-RU" sz="2000">
                <a:solidFill>
                  <a:srgbClr val="FFFFFF"/>
                </a:solidFill>
              </a:rPr>
              <a:t>СООТВЕТСТВИЕ ТЗ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1536192"/>
          <a:ext cx="11064240" cy="4224528"/>
        </p:xfrm>
        <a:graphic>
          <a:graphicData uri="http://schemas.openxmlformats.org/drawingml/2006/table">
            <a:tbl>
              <a:tblPr firstRow="0" bandRow="0"/>
              <a:tblGrid>
                <a:gridCol w="3246120"/>
                <a:gridCol w="1600200"/>
                <a:gridCol w="6217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Требование ТЗ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Статус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Доказательство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Ubuntu 22.04, ROS 2 Humble, Docker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Dockerfile на ros:humble; зависимости ставятся при сборке; docker compose up play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Выход: есть препятствие + расстояние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/tunnel_od/result на каждый кадр: status, distance_m; objects[] — положение, размер, уверенность (тип не определяется)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Габарит 2,1 × 3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0,15–3,0 м над рельсом, ±1,0 м от оси; ширина 2,0 м из-за ошибки оси 5–30 см; в дальней зоне верх 1,5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Объект от 300 × 300 × 100 мм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кубы 0,4 и 0,2 м при подъезде; плоский предмет ниже 0,15 м над рельсом не виден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Оборванные кабели в габарите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стержень со свода (объект №10) — СТОП с 22 м; вдали выше 1,5 м не ловится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Пропуски и ложные срабатывания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бэг организаторов: СТОП на 8 из 8 в габарите, 0 вне габарита; ложных СТОП-кадров 5 из 1510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Работа на новых данных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new_data (18,8 мин) при подборе не использовалась: кадров СТОП 3,3 %; на 8 отрезках 5,5 % против 14,6 %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Дальность 100 / 200 / 300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человек при подъезде со 170 м — СТОП на 160 м, со 220 м — 187 м; отражений дальше ~210 м нет — 300 м недостижимы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Задержка, FPS, CPU / GPU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задержка узла p50 14–18 мс, e2e p95 30–47 мс при бюджете 100 мс; только CPU, GPU не нужен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Демо, тесты, документация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RViz2 в браузере (docker compose up demo); gtest 15 + pytest 21 в Docker — все пройдены; README и docs/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6928" y="61447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Подробно — docs/tz_compliance.md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548640"/>
            <a:ext cx="4846320" cy="822960"/>
          </a:xfrm>
        </p:spPr>
        <p:txBody>
          <a:bodyPr/>
          <a:lstStyle/>
          <a:p>
            <a:r>
              <a:rPr lang="ru-RU" sz="2000">
                <a:solidFill>
                  <a:srgbClr val="520978"/>
                </a:solidFill>
              </a:rPr>
              <a:t>ГЛАВНЫЙ ИСТОЧНИК ЛОЖНЫХ ТРЕВОГ — КРИВЫЕ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0020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Разведка данных: ложные точки в коридоре дают не лужи и знаки, а ошибка оси в кривых на 35–80 м</a:t>
            </a:r>
          </a:p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Прямая ось недокручивается — стена входит в коридор, до 1025 точек на кадр</a:t>
            </a:r>
          </a:p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Поэтому упор — на модель пути: ось по стенам с шагом по параболе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1605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520978"/>
                </a:solidFill>
              </a:rPr>
              <a:t>Ошибка оси на 80–160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5720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000" lang="ru-RU">
                <a:solidFill>
                  <a:srgbClr val="6B6B78"/>
                </a:solidFill>
              </a:rPr>
              <a:t>было 0,3–0,76 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50292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стало 0,02–0,04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760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синтетическая дуга R = 300–800 м</a:t>
            </a:r>
          </a:p>
        </p:txBody>
      </p:sp>
      <p:pic>
        <p:nvPicPr>
          <p:cNvPr id="15" name="Picture 14" descr="vis_curve_rT_sT_f4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54480"/>
            <a:ext cx="5715000" cy="2857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72200" y="4526280"/>
            <a:ext cx="5715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FFFFFF"/>
                </a:solidFill>
              </a:rPr>
              <a:t>Кадр 475 из записи с гермозатвором: в кривой стена входит в прямой коридор (срез справа). Красная рамка — габарит ТЗ 2,1 × 3 м.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10058400" cy="442374"/>
          </a:xfrm>
        </p:spPr>
        <p:txBody>
          <a:bodyPr/>
          <a:lstStyle/>
          <a:p>
            <a:r>
              <a:rPr lang="ru-RU">
                <a:solidFill>
                  <a:srgbClr val="520978"/>
                </a:solidFill>
              </a:rPr>
              <a:t>СЛОЖНЫЕ УЧАСТКИ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1207" y="1645920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Лужи в жёлобе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64592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нижняя граница зоны — 0,15 м над головкой рельса; высота полотна — по 10-му перцентилю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514600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Гермозатвор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51460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рельс прослеживается через разрыв на пороге; портал не сбивает ось по стенам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3392424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Стрелка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392424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пара рельсов берётся у лидара и ведётся вперёд — ось не уходит на чужой путь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224528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Платформа, контактный рельс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224528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зона ±1,0 м; продольные цепочки длиннее 8 м — не препятствие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5093207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Засветы и знаки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093207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интенсивность не используем: фильтр по яркости срезал бы человека в световозвращающем жилете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21207" y="5916168"/>
            <a:ext cx="11338561" cy="0"/>
          </a:xfrm>
          <a:prstGeom prst="line">
            <a:avLst/>
          </a:prstGeom>
          <a:ln>
            <a:solidFill>
              <a:srgbClr val="520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1207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Разбор с кадрами из записей — docs/hard_cases.md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4143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СКОРОСТЬ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14–18 мс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задержка узла p50 на кадрах 8–23 МБ; p95 — 17–20 мс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24–42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e2e p50: от плеера до результата; p95 — 30–47 мс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1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1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8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1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разбор кадра 23 МБ на C++ — в 3 раза быстрее Python (23 мс); побитово 210 / 210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520978"/>
                </a:solidFill>
              </a:rPr>
              <a:t>0 потерь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кадры 1510 / 1510, 345 / 345, 201 / 201; только CPU, GPU не нужен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1024128"/>
            <a:ext cx="11338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FFFFFF"/>
                </a:solidFill>
              </a:rPr>
              <a:t>Замер 28.09: Ryzen 7 7840HS, Docker, docker compose up play; разбор C++ — 29.09, 7 записей по 30 кадров.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347472" y="4315968"/>
          <a:ext cx="109728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2244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ПОДХОД КОМАНДЫ: ВАРИАНТЫ A →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1325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5607" y="13716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Разведка данных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5607" y="18288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ложные точки дают ошибки оси в кривых, а не лужи и знаки → силы в модель пути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926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7" y="2971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Правило отбора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5607" y="34290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изменение включаем, только если растёт дальность и не растут тревоги на отложенной new_data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7" y="45720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A → B: ось по стенам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5607" y="50292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эпизодов в час 1091 → 349; человек со 170 м: 116 → 158 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1325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13716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D: накопление по кадрам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18288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объект на 56 м: 55 → 183 кадров из 201, но тревог больше (16,1 %)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2926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4888" y="2971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E, I: отсев конструкций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34290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кабели и стены у края коридора: кадров с тревогой 10,8 → 9,7 %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4888" y="45720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L → P: дальняя зона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4888" y="50292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узкая L теряет реальный объект (42 кадра); P — 2,4 %, 146 в час, 183 кадра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" y="6053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Не вошло: нейросети — нет разметки, сеть запомнила бы шесть тоннелей; карта тоннеля — на проверке нет повторных проездов.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774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ТЕХНИЧЕСКАЯ ПРОРАБОТКА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55448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Запуск в три команды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1031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docker compose build</a:t>
            </a:r>
          </a:p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BAG=&lt;запись&gt; docker compose up play</a:t>
            </a:r>
          </a:p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docker compose run --rm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9184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300" lang="ru-RU">
                <a:solidFill>
                  <a:srgbClr val="1C1D22"/>
                </a:solidFill>
              </a:rPr>
              <a:t>все зависимости ставятся при сборке, сеть при запуске не нужна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300" lang="ru-RU">
                <a:solidFill>
                  <a:srgbClr val="1C1D22"/>
                </a:solidFill>
              </a:rPr>
              <a:t>выход: /tunnel_od/result — JSON на кадр, /tunnel_od/markers — RViz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4983480" cy="1691640"/>
          </a:xfrm>
          <a:prstGeom prst="roundRect">
            <a:avLst>
              <a:gd name="adj" fmla="val 1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3232" y="44805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FF0053"/>
                </a:solidFill>
              </a:rPr>
              <a:t>Принцип безопасности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82803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1C1D22"/>
                </a:solidFill>
              </a:rPr>
              <a:t>Не говорим «путь свободен», если не видим путь: без оси пути статус — «нет данных», а не «свободно». «Свободно» — только при видимости пути ≥ 30 м. Приоритет: СТОП &gt; нет данных &gt; ВНИМАНИЕ &gt; свободно.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1399032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Габарит: высота 3,0 м в ближней зоне (~40 м) — оборванные кабели сверху, дальше 1,5 м; ширина 2,0 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2414016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Пустое облако, скачок и откат времени, повтор кадра — без падения, статус «нет данных»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3419856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Docker на любом uid; записи .db3 и .mcap; топик и оси определяются по записи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4434840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Детерминированный режим оценки: два прогона дают побитово одинаковый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5449824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Тесты: gtest (C++) и pytest; офлайн-оценка python -m evaluation с HTML-отчётом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60015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БЭГ ОРГАНИЗАТОРОВ: 10 ОБЪЕКТОВ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47472" y="1188720"/>
          <a:ext cx="576072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71500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FFFFFF"/>
                </a:solidFill>
              </a:rPr>
              <a:t>1510 кадров, эталон организаторов. №2 и №3 стоят в кривой — в зону входят ближе 45–50 м; №8 в габарите по уточнению организаторов.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0058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23444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4400" lang="ru-RU">
                <a:solidFill>
                  <a:srgbClr val="FF0053"/>
                </a:solidFill>
              </a:rPr>
              <a:t>8 из 8</a:t>
            </a:r>
            <a:r>
              <a:rPr b="1" sz="2200" lang="ru-RU">
                <a:solidFill>
                  <a:srgbClr val="FF0053"/>
                </a:solidFill>
              </a:rPr>
              <a:t>  СТОП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116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всех объектах в габарите — исходная версия останавливала 5 из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44368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200" lang="ru-RU">
                <a:solidFill>
                  <a:srgbClr val="520978"/>
                </a:solidFill>
              </a:rPr>
              <a:t>0 ложных СТОП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объектах вне габарита (№5, №7) — только ВНИМАНИЕ; ложных СТОП-кадров всего 5 из 1510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55464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200" lang="ru-RU">
                <a:solidFill>
                  <a:srgbClr val="520978"/>
                </a:solidFill>
              </a:rPr>
              <a:t>186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568696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самый дальний первый СТОП — короб №6; куб 2 м — со 98 м, плита — со 100 м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604484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ЛОЖНЫЕ ТРЕВОГИ: В 6 РАЗ МЕНЬШЕ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11480" y="1325880"/>
          <a:ext cx="59436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34924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Пустые записи — 5 записей без препятствий. new_data — отложенная запись 18,8 мин, при подборе параметров не использовалась. ВНИМАНИЕ (кандидат, без торможения) — 27,3 % кадров пустых записей.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005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3258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2,0 %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83794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ложных СТОП на пустых записях — в 6 раз меньше, чем у исходной версии (12,2 %)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5,5 %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2666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кадров СТОП на new_data, 8 отрезков — было 14,6 %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703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3,3 %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21538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всей new_data: 11 271 кадр, 18,8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892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191 из 201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40410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кадров со СТОП у реального предмета на 56 м — было 49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475513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23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ДАЛЬНОСТЬ ОБНАРУЖЕНИЯ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11480" y="1325880"/>
          <a:ext cx="59436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34924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Неподвижный объект вставлен в реальные кадры лучами датчика, поезд едет 10–15 м/с; 120 испытаний: 5 объектов × 4 старта × 6 окон движения. За поворотом путь закрыт стеной через 60–120 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005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72 %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83794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объектов найдено при подъезде: 87 из 120 испытаний — было 58 % (70 из 120)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160 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02666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человек на пути, подъезд со 170 м — было 116 м; со 220 м — 187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703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118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21538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медиана дальности первого СТОП по всем испытаниям — было 99 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892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3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40410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медианная ошибка дистанции; у 95 % — до 1 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70687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ОГРАНИЧЕНИЯ И РАЗВИТИЕ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658368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8368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объект у самого края габарита — только ВНИМАНИЕ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предметы ниже 0,15 м над рельсом не видны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за поворотом путь закрыт стеной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лидар не даёт отражений дальше ~210 м — 300 м физически недостижимы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53712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Следующий шаг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3712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сравнение с фоном тоннеля: низкие предметы и объекты у края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накопление точек за несколько кадров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проверка отклоняющегося пути на стрелке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58200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Внедрение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58200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ROS-топик с JSON — стандартный интерфейс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CPU без GPU — путь к бортовому вычислителю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без разметки и карт — новые линии сразу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37054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КАК РАБОТАЕТ ДЕТЕКТОР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347472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Облако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убираем пустые точки и дубли dual return — облако в 3–5 раз меньше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9744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Ось пути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рельсы своего пути вблизи, дальше — стены тоннеля, до 150–200 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2872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Габарит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2872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±1,0 м от оси; от 0,15 м над рельсом до 3,0 м вблизи (~40 м), дальше до 1,5 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33472" y="4956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Объекты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33472" y="5330952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точки → кластеры; кабели и край платформы (цепочки &gt; 8 м) отсеиваем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4919472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Решение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1" y="5294376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копим свидетельство по кадрам с учётом движения → СТОП, X м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1438215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ДЕМО</a:t>
            </a:r>
          </a:p>
        </p:txBody>
      </p:sp>
      <p:pic>
        <p:nvPicPr>
          <p:cNvPr id="56" name="Picture 55" descr="crop_stop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1572768"/>
            <a:ext cx="4215384" cy="2340864"/>
          </a:xfrm>
          <a:prstGeom prst="rect">
            <a:avLst/>
          </a:prstGeom>
        </p:spPr>
      </p:pic>
      <p:pic>
        <p:nvPicPr>
          <p:cNvPr id="57" name="Picture 56" descr="crop_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1572768"/>
            <a:ext cx="4215384" cy="234086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48640" y="422452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тоннель → облако → детектор → СТОП, 69 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02920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Слева — RViz: docker compose up demo, в браузере localhost:6080. Справа — веб-плеер отчёта: реальный предмет, СТОП 55,7 м.</a:t>
            </a:r>
          </a:p>
        </p:txBody>
      </p:sp>
      <p:pic>
        <p:nvPicPr>
          <p:cNvPr id="60" name="Picture 59" descr="crop_stop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224528"/>
            <a:ext cx="3474720" cy="14173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343400" y="57150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FF0053"/>
                </a:solidFill>
              </a:rPr>
              <a:t>СТОП, 31 м</a:t>
            </a:r>
          </a:p>
        </p:txBody>
      </p:sp>
      <p:pic>
        <p:nvPicPr>
          <p:cNvPr id="62" name="Picture 61" descr="crop_caution1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4224528"/>
            <a:ext cx="3474720" cy="141732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92440" y="57150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520978"/>
                </a:solidFill>
              </a:rPr>
              <a:t>ВНИМАНИЕ, 118 м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Обнаружение препятствий в тоннеле метро по 3D-лидару</dc:title>
  <dc:creator>Голуби</dc:creator>
  <cp:lastModifiedBy>Голуби</cp:lastModifiedBy>
  <cp:revision>95</cp:revision>
  <dcterms:created xsi:type="dcterms:W3CDTF">2023-05-15T07:36:23Z</dcterms:created>
  <dcterms:modified xsi:type="dcterms:W3CDTF">2026-09-14T11:14:59Z</dcterms:modified>
  <dc:description>Команда «Голуби»: Павлов Иван Александрович; Спирин Макар Юрьевич; Аргун Владислав Гарриевич (капитан); Киреев Станислав Дмитриевич</dc:description>
</cp:coreProperties>
</file>