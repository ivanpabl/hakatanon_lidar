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365" r:id="rId2"/>
    <p:sldId id="366" r:id="rId3"/>
    <p:sldId id="362" r:id="rId4"/>
    <p:sldId id="364" r:id="rId5"/>
    <p:sldId id="375" r:id="rId6"/>
    <p:sldId id="267" r:id="rId7"/>
    <p:sldId id="373" r:id="rId8"/>
    <p:sldId id="270" r:id="rId9"/>
    <p:sldId id="263" r:id="rId10"/>
    <p:sldId id="266" r:id="rId11"/>
    <p:sldId id="264" r:id="rId12"/>
    <p:sldId id="371" r:id="rId13"/>
    <p:sldId id="370" r:id="rId14"/>
    <p:sldId id="260" r:id="rId17"/>
    <p:sldId id="268" r:id="rId18"/>
    <p:sldId id="262" r:id="rId15"/>
    <p:sldId id="372" r:id="rId16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267"/>
            <p14:sldId id="373"/>
            <p14:sldId id="270"/>
            <p14:sldId id="263"/>
            <p14:sldId id="266"/>
            <p14:sldId id="264"/>
            <p14:sldId id="371"/>
            <p14:sldId id="370"/>
            <p14:sldId id="262"/>
            <p14:sldId id="372"/>
            <p14:sldId id="260"/>
            <p14:sldId id="268"/>
          </p14:sldIdLst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0978"/>
    <a:srgbClr val="2D1451"/>
    <a:srgbClr val="DCCEE4"/>
    <a:srgbClr val="FFD6E3"/>
    <a:srgbClr val="FFFFFF"/>
    <a:srgbClr val="753A93"/>
    <a:srgbClr val="976BAE"/>
    <a:srgbClr val="F92571"/>
    <a:srgbClr val="8226E3"/>
    <a:srgbClr val="222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54" autoAdjust="0"/>
    <p:restoredTop sz="95848"/>
  </p:normalViewPr>
  <p:slideViewPr>
    <p:cSldViewPr snapToGrid="0" showGuides="1">
      <p:cViewPr varScale="1">
        <p:scale>
          <a:sx n="144" d="100"/>
          <a:sy n="144" d="100"/>
        </p:scale>
        <p:origin x="200" y="28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lang="ru-RU" sz="1200" b="1">
                <a:solidFill>
                  <a:srgbClr val="FFFFFF"/>
                </a:solidFill>
              </a:rPr>
              <a:t>Первый СТОП по каждому объекту в габарите, м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Первый СТОП, м</c:v>
                </c:pt>
              </c:strCache>
            </c:strRef>
          </c:tx>
          <c:spPr>
            <a:solidFill>
              <a:srgbClr val="FF005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  <a:endParaRPr lang="ru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№1 куб</c:v>
                </c:pt>
                <c:pt idx="1">
                  <c:v>№2 0,3 м</c:v>
                </c:pt>
                <c:pt idx="2">
                  <c:v>№3 0,3 м</c:v>
                </c:pt>
                <c:pt idx="3">
                  <c:v>№4 0,3 м</c:v>
                </c:pt>
                <c:pt idx="4">
                  <c:v>№6 короб</c:v>
                </c:pt>
                <c:pt idx="5">
                  <c:v>№8 у свода</c:v>
                </c:pt>
                <c:pt idx="6">
                  <c:v>№9 плита</c:v>
                </c:pt>
                <c:pt idx="7">
                  <c:v>№10 стержень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98</c:v>
                </c:pt>
                <c:pt idx="1">
                  <c:v>44</c:v>
                </c:pt>
                <c:pt idx="2">
                  <c:v>48</c:v>
                </c:pt>
                <c:pt idx="3">
                  <c:v>33</c:v>
                </c:pt>
                <c:pt idx="4">
                  <c:v>186</c:v>
                </c:pt>
                <c:pt idx="5">
                  <c:v>54</c:v>
                </c:pt>
                <c:pt idx="6">
                  <c:v>100</c:v>
                </c:pt>
                <c:pt idx="7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B0-674D-B87D-EF9704ACC9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FFFFFF"/>
            </a:solidFill>
          </a:ln>
        </c:spPr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  <a:endParaRPr lang="ru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latin typeface="Montserrat"/>
        </a:defRPr>
      </a:pPr>
      <a:endParaRPr lang="ru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lang="ru-RU" sz="1200" b="1">
                <a:solidFill>
                  <a:srgbClr val="1C1D22"/>
                </a:solidFill>
              </a:rPr>
              <a:t>Кадров с ложным СТОП,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исходная версия</c:v>
                </c:pt>
              </c:strCache>
            </c:strRef>
          </c:tx>
          <c:spPr>
            <a:solidFill>
              <a:srgbClr val="8A83D1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1C1D22"/>
                    </a:solidFill>
                  </a:defRPr>
                </a:pPr>
                <a:endParaRPr lang="ru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пустые записи, 2287 кадров</c:v>
                </c:pt>
                <c:pt idx="1">
                  <c:v>new_data, 8 отрезков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12.2</c:v>
                </c:pt>
                <c:pt idx="1">
                  <c:v>14.6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A4-564B-BFFF-EB47378F1F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rgbClr val="FF0053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1C1D22"/>
                    </a:solidFill>
                  </a:defRPr>
                </a:pPr>
                <a:endParaRPr lang="ru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пустые записи, 2287 кадров</c:v>
                </c:pt>
                <c:pt idx="1">
                  <c:v>new_data, 8 отрезков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0.4</c:v>
                </c:pt>
                <c:pt idx="1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A4-564B-BFFF-EB47378F1F9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1C1D22"/>
            </a:solidFill>
          </a:ln>
        </c:spPr>
        <c:txPr>
          <a:bodyPr/>
          <a:lstStyle/>
          <a:p>
            <a:pPr>
              <a:defRPr sz="1200">
                <a:solidFill>
                  <a:srgbClr val="1C1D22"/>
                </a:solidFill>
              </a:defRPr>
            </a:pPr>
            <a:endParaRPr lang="ru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1C1D22"/>
              </a:solidFill>
            </a:defRPr>
          </a:pPr>
          <a:endParaRPr lang="ru-US"/>
        </a:p>
      </c:txPr>
    </c:legend>
    <c:plotVisOnly val="1"/>
    <c:dispBlanksAs val="gap"/>
    <c:showDLblsOverMax val="1"/>
  </c:chart>
  <c:txPr>
    <a:bodyPr/>
    <a:lstStyle/>
    <a:p>
      <a:pPr>
        <a:defRPr sz="1200">
          <a:latin typeface="Montserrat"/>
        </a:defRPr>
      </a:pPr>
      <a:endParaRPr lang="ru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lang="ru-RU" sz="1200" b="1">
                <a:solidFill>
                  <a:srgbClr val="1C1D22"/>
                </a:solidFill>
              </a:rPr>
              <a:t>Первый СТОП при подъезде со 170 м, м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исходная версия</c:v>
                </c:pt>
              </c:strCache>
            </c:strRef>
          </c:tx>
          <c:spPr>
            <a:solidFill>
              <a:srgbClr val="8A83D1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1C1D22"/>
                    </a:solidFill>
                  </a:defRPr>
                </a:pPr>
                <a:endParaRPr lang="ru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человек стоит</c:v>
                </c:pt>
                <c:pt idx="1">
                  <c:v>куб 0,4 м</c:v>
                </c:pt>
                <c:pt idx="2">
                  <c:v>человек лежит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</c:v>
                </c:pt>
                <c:pt idx="1">
                  <c:v>118</c:v>
                </c:pt>
                <c:pt idx="2">
                  <c:v>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0B-DE40-B7BF-2D2833FE11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rgbClr val="FF005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1C1D22"/>
                    </a:solidFill>
                  </a:defRPr>
                </a:pPr>
                <a:endParaRPr lang="ru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человек стоит</c:v>
                </c:pt>
                <c:pt idx="1">
                  <c:v>куб 0,4 м</c:v>
                </c:pt>
                <c:pt idx="2">
                  <c:v>человек лежит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160</c:v>
                </c:pt>
                <c:pt idx="1">
                  <c:v>147</c:v>
                </c:pt>
                <c:pt idx="2">
                  <c:v>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0B-DE40-B7BF-2D2833FE111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1C1D22"/>
            </a:solidFill>
          </a:ln>
        </c:spPr>
        <c:txPr>
          <a:bodyPr/>
          <a:lstStyle/>
          <a:p>
            <a:pPr>
              <a:defRPr sz="1200">
                <a:solidFill>
                  <a:srgbClr val="1C1D22"/>
                </a:solidFill>
              </a:defRPr>
            </a:pPr>
            <a:endParaRPr lang="ru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1C1D22"/>
              </a:solidFill>
            </a:defRPr>
          </a:pPr>
          <a:endParaRPr lang="ru-US"/>
        </a:p>
      </c:txPr>
    </c:legend>
    <c:plotVisOnly val="1"/>
    <c:dispBlanksAs val="gap"/>
    <c:showDLblsOverMax val="1"/>
  </c:chart>
  <c:txPr>
    <a:bodyPr/>
    <a:lstStyle/>
    <a:p>
      <a:pPr>
        <a:defRPr sz="1200">
          <a:latin typeface="Montserrat"/>
        </a:defRPr>
      </a:pPr>
      <a:endParaRPr lang="ru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lang="ru-RU" sz="1200" b="1">
                <a:solidFill>
                  <a:srgbClr val="FFFFFF"/>
                </a:solidFill>
              </a:rPr>
              <a:t>Задержка </a:t>
            </a:r>
            <a:r>
              <a:rPr lang="en-US" sz="1200" b="1">
                <a:solidFill>
                  <a:srgbClr val="FFFFFF"/>
                </a:solidFill>
              </a:rPr>
              <a:t>p95, </a:t>
            </a:r>
            <a:r>
              <a:rPr lang="ru-RU" sz="1200" b="1">
                <a:solidFill>
                  <a:srgbClr val="FFFFFF"/>
                </a:solidFill>
              </a:rPr>
              <a:t>мс — бюджет кадра при 10 Гц: 100 мс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p95, мс</c:v>
                </c:pt>
              </c:strCache>
            </c:strRef>
          </c:tx>
          <c:spPr>
            <a:solidFill>
              <a:srgbClr val="FFD6E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  <a:endParaRPr lang="ru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e2e, 4 ядра</c:v>
                </c:pt>
                <c:pt idx="1">
                  <c:v>e2e, 8 потоков</c:v>
                </c:pt>
                <c:pt idx="2">
                  <c:v>узел, 4 ядра</c:v>
                </c:pt>
                <c:pt idx="3">
                  <c:v>детектор, 4 ядра</c:v>
                </c:pt>
                <c:pt idx="4">
                  <c:v>узел, 8 потоков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63</c:v>
                </c:pt>
                <c:pt idx="2">
                  <c:v>48</c:v>
                </c:pt>
                <c:pt idx="3">
                  <c:v>46</c:v>
                </c:pt>
                <c:pt idx="4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23-9E46-8573-51489A8114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FFFFFF"/>
            </a:solidFill>
          </a:ln>
        </c:spPr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  <a:endParaRPr lang="ru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Montserrat"/>
        </a:defRPr>
      </a:pPr>
      <a:endParaRPr lang="ru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microsoft.com/office/2007/relationships/hdphoto" Target="../media/hdphoto1.wdp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png"/><Relationship Id="rId3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hyperlink" Target="https://github.com/ivanpabl/hakatanon_lidar/blob/main/docs/tz_compliance.md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dirty="0"/>
              <a:t>Обнаружение препятствий</a:t>
            </a:r>
          </a:p>
          <a:p>
            <a:pPr marL="268288" indent="0"/>
            <a:r>
              <a:rPr lang="ru-RU" dirty="0"/>
              <a:t>в тоннеле метро</a:t>
            </a:r>
          </a:p>
          <a:p>
            <a:pPr marL="268288" indent="0"/>
            <a:r>
              <a:rPr lang="ru-RU" dirty="0"/>
              <a:t>по 3D-лидару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lang="ru-RU"/>
              <a:t>Команда «Голуби»  ·  кейс №5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6" y="512681"/>
            <a:ext cx="2609165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5186" y="1262489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900" b="0">
                <a:solidFill>
                  <a:srgbClr val="FFFFFF"/>
                </a:solidFill>
              </a:rPr>
              <a:t>Постановщик: Департамент транспорта и развития дорожно-транспортной инфраструктуры Москвы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-1"/>
            <a:ext cx="6456363" cy="68580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149587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0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19904" y="4678069"/>
            <a:ext cx="4945565" cy="11887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600" dirty="0">
                <a:solidFill>
                  <a:schemeClr val="tx1"/>
                </a:solidFill>
              </a:rPr>
              <a:t>Без обучения и без карты тоннеля: не узнаём объекты, а ищем всё, что попало в габарит. Поэтому работает на незнакомых тоннелях и на любом предмете — от кабеля до человека.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3D31A96C-8039-97E9-FFBC-44A52802C42C}"/>
              </a:ext>
            </a:extLst>
          </p:cNvPr>
          <p:cNvGrpSpPr/>
          <p:nvPr/>
        </p:nvGrpSpPr>
        <p:grpSpPr>
          <a:xfrm>
            <a:off x="283074" y="3998848"/>
            <a:ext cx="5629858" cy="2815753"/>
            <a:chOff x="263233" y="4459698"/>
            <a:chExt cx="5629858" cy="2815753"/>
          </a:xfrm>
        </p:grpSpPr>
        <p:sp>
          <p:nvSpPr>
            <p:cNvPr id="14" name="Текст 8">
              <a:extLst>
                <a:ext uri="{FF2B5EF4-FFF2-40B4-BE49-F238E27FC236}">
                  <a16:creationId xmlns:a16="http://schemas.microsoft.com/office/drawing/2014/main" id="{A66B04C6-E9BA-5BA2-7A5C-84468D491C57}"/>
                </a:ext>
              </a:extLst>
            </p:cNvPr>
            <p:cNvSpPr txBox="1">
              <a:spLocks/>
            </p:cNvSpPr>
            <p:nvPr/>
          </p:nvSpPr>
          <p:spPr>
            <a:xfrm>
              <a:off x="263233" y="5068259"/>
              <a:ext cx="5629858" cy="2207192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144688" indent="-144688" algn="l" defTabSz="578755" rtl="0" eaLnBrk="1" latinLnBrk="0" hangingPunct="1">
                <a:lnSpc>
                  <a:spcPct val="90000"/>
                </a:lnSpc>
                <a:spcBef>
                  <a:spcPts val="631"/>
                </a:spcBef>
                <a:buClr>
                  <a:schemeClr val="accent1"/>
                </a:buClr>
                <a:buFont typeface="Wingdings" pitchFamily="2" charset="2"/>
                <a:buChar char="§"/>
                <a:defRPr sz="1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34067" indent="-144688" algn="l" defTabSz="578755" rtl="0" eaLnBrk="1" latinLnBrk="0" hangingPunct="1">
                <a:lnSpc>
                  <a:spcPct val="90000"/>
                </a:lnSpc>
                <a:spcBef>
                  <a:spcPts val="317"/>
                </a:spcBef>
                <a:buFont typeface="Arial" panose="020B0604020202020204" pitchFamily="34" charset="0"/>
                <a:buChar char="•"/>
                <a:defRPr sz="1271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723445" indent="-144688" algn="l" defTabSz="578755" rtl="0" eaLnBrk="1" latinLnBrk="0" hangingPunct="1">
                <a:lnSpc>
                  <a:spcPct val="90000"/>
                </a:lnSpc>
                <a:spcBef>
                  <a:spcPts val="317"/>
                </a:spcBef>
                <a:buFont typeface="Arial" panose="020B0604020202020204" pitchFamily="34" charset="0"/>
                <a:buChar char="•"/>
                <a:defRPr sz="997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12822" indent="-144688" algn="l" defTabSz="578755" rtl="0" eaLnBrk="1" latinLnBrk="0" hangingPunct="1">
                <a:lnSpc>
                  <a:spcPct val="90000"/>
                </a:lnSpc>
                <a:spcBef>
                  <a:spcPts val="317"/>
                </a:spcBef>
                <a:buFont typeface="Arial" panose="020B0604020202020204" pitchFamily="34" charset="0"/>
                <a:buChar char="•"/>
                <a:defRPr sz="907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302200" indent="-144688" algn="l" defTabSz="578755" rtl="0" eaLnBrk="1" latinLnBrk="0" hangingPunct="1">
                <a:lnSpc>
                  <a:spcPct val="90000"/>
                </a:lnSpc>
                <a:spcBef>
                  <a:spcPts val="317"/>
                </a:spcBef>
                <a:buFont typeface="Arial" panose="020B0604020202020204" pitchFamily="34" charset="0"/>
                <a:buChar char="•"/>
                <a:defRPr sz="907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591576" indent="-144688" algn="l" defTabSz="578755" rtl="0" eaLnBrk="1" latinLnBrk="0" hangingPunct="1">
                <a:lnSpc>
                  <a:spcPct val="90000"/>
                </a:lnSpc>
                <a:spcBef>
                  <a:spcPts val="317"/>
                </a:spcBef>
                <a:buFont typeface="Arial" panose="020B0604020202020204" pitchFamily="34" charset="0"/>
                <a:buChar char="•"/>
                <a:defRPr sz="114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80955" indent="-144688" algn="l" defTabSz="578755" rtl="0" eaLnBrk="1" latinLnBrk="0" hangingPunct="1">
                <a:lnSpc>
                  <a:spcPct val="90000"/>
                </a:lnSpc>
                <a:spcBef>
                  <a:spcPts val="317"/>
                </a:spcBef>
                <a:buFont typeface="Arial" panose="020B0604020202020204" pitchFamily="34" charset="0"/>
                <a:buChar char="•"/>
                <a:defRPr sz="114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70334" indent="-144688" algn="l" defTabSz="578755" rtl="0" eaLnBrk="1" latinLnBrk="0" hangingPunct="1">
                <a:lnSpc>
                  <a:spcPct val="90000"/>
                </a:lnSpc>
                <a:spcBef>
                  <a:spcPts val="317"/>
                </a:spcBef>
                <a:buFont typeface="Arial" panose="020B0604020202020204" pitchFamily="34" charset="0"/>
                <a:buChar char="•"/>
                <a:defRPr sz="114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59712" indent="-144688" algn="l" defTabSz="578755" rtl="0" eaLnBrk="1" latinLnBrk="0" hangingPunct="1">
                <a:lnSpc>
                  <a:spcPct val="90000"/>
                </a:lnSpc>
                <a:spcBef>
                  <a:spcPts val="317"/>
                </a:spcBef>
                <a:buFont typeface="Arial" panose="020B0604020202020204" pitchFamily="34" charset="0"/>
                <a:buChar char="•"/>
                <a:defRPr sz="114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600" b="1" dirty="0">
                  <a:solidFill>
                    <a:schemeClr val="tx1"/>
                  </a:solidFill>
                </a:rPr>
                <a:t>Капитан</a:t>
              </a:r>
              <a:r>
                <a:rPr lang="en-US" sz="1600" b="1" dirty="0">
                  <a:solidFill>
                    <a:schemeClr val="tx1"/>
                  </a:solidFill>
                </a:rPr>
                <a:t>:</a:t>
              </a:r>
              <a:r>
                <a:rPr lang="ru-RU" sz="1600" b="1" dirty="0">
                  <a:solidFill>
                    <a:schemeClr val="tx1"/>
                  </a:solidFill>
                </a:rPr>
                <a:t> </a:t>
              </a:r>
              <a:r>
                <a:rPr lang="ru-RU" sz="1600" dirty="0">
                  <a:solidFill>
                    <a:schemeClr val="tx1"/>
                  </a:solidFill>
                </a:rPr>
                <a:t>Аргун Владислав </a:t>
              </a:r>
              <a:r>
                <a:rPr lang="ru-RU" sz="1600" dirty="0" err="1">
                  <a:solidFill>
                    <a:schemeClr val="tx1"/>
                  </a:solidFill>
                </a:rPr>
                <a:t>Гарриевич</a:t>
              </a:r>
              <a:endParaRPr lang="ru-RU" sz="1600" dirty="0">
                <a:solidFill>
                  <a:schemeClr val="tx1"/>
                </a:solidFill>
              </a:endParaRPr>
            </a:p>
            <a:p>
              <a:pPr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600" b="1" dirty="0">
                  <a:solidFill>
                    <a:schemeClr val="tx1"/>
                  </a:solidFill>
                </a:rPr>
                <a:t>Кол-во участников: </a:t>
              </a:r>
              <a:r>
                <a:rPr lang="ru-RU" sz="1600" dirty="0">
                  <a:solidFill>
                    <a:schemeClr val="tx1"/>
                  </a:solidFill>
                </a:rPr>
                <a:t>4</a:t>
              </a:r>
            </a:p>
            <a:p>
              <a:pPr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600" b="1" dirty="0">
                  <a:solidFill>
                    <a:schemeClr val="tx1"/>
                  </a:solidFill>
                </a:rPr>
                <a:t>Команда: </a:t>
              </a:r>
              <a:r>
                <a:rPr lang="ru-RU" sz="1600" dirty="0">
                  <a:solidFill>
                    <a:schemeClr val="tx1"/>
                  </a:solidFill>
                </a:rPr>
                <a:t>«Голуби»</a:t>
              </a:r>
            </a:p>
          </p:txBody>
        </p:sp>
        <p:sp>
          <p:nvSpPr>
            <p:cNvPr id="15" name="Текст 8">
              <a:extLst>
                <a:ext uri="{FF2B5EF4-FFF2-40B4-BE49-F238E27FC236}">
                  <a16:creationId xmlns:a16="http://schemas.microsoft.com/office/drawing/2014/main" id="{835E7A1E-FFEA-1C2F-65E6-56769FEFB842}"/>
                </a:ext>
              </a:extLst>
            </p:cNvPr>
            <p:cNvSpPr txBox="1">
              <a:spLocks/>
            </p:cNvSpPr>
            <p:nvPr/>
          </p:nvSpPr>
          <p:spPr>
            <a:xfrm>
              <a:off x="275352" y="4459698"/>
              <a:ext cx="2990173" cy="353935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144688" indent="-144688" algn="l" defTabSz="578755" rtl="0" eaLnBrk="1" latinLnBrk="0" hangingPunct="1">
                <a:lnSpc>
                  <a:spcPct val="90000"/>
                </a:lnSpc>
                <a:spcBef>
                  <a:spcPts val="631"/>
                </a:spcBef>
                <a:buClr>
                  <a:schemeClr val="accent1"/>
                </a:buClr>
                <a:buFont typeface="Wingdings" pitchFamily="2" charset="2"/>
                <a:buChar char="§"/>
                <a:defRPr sz="1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34067" indent="-144688" algn="l" defTabSz="578755" rtl="0" eaLnBrk="1" latinLnBrk="0" hangingPunct="1">
                <a:lnSpc>
                  <a:spcPct val="90000"/>
                </a:lnSpc>
                <a:spcBef>
                  <a:spcPts val="317"/>
                </a:spcBef>
                <a:buFont typeface="Arial" panose="020B0604020202020204" pitchFamily="34" charset="0"/>
                <a:buChar char="•"/>
                <a:defRPr sz="1271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723445" indent="-144688" algn="l" defTabSz="578755" rtl="0" eaLnBrk="1" latinLnBrk="0" hangingPunct="1">
                <a:lnSpc>
                  <a:spcPct val="90000"/>
                </a:lnSpc>
                <a:spcBef>
                  <a:spcPts val="317"/>
                </a:spcBef>
                <a:buFont typeface="Arial" panose="020B0604020202020204" pitchFamily="34" charset="0"/>
                <a:buChar char="•"/>
                <a:defRPr sz="997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12822" indent="-144688" algn="l" defTabSz="578755" rtl="0" eaLnBrk="1" latinLnBrk="0" hangingPunct="1">
                <a:lnSpc>
                  <a:spcPct val="90000"/>
                </a:lnSpc>
                <a:spcBef>
                  <a:spcPts val="317"/>
                </a:spcBef>
                <a:buFont typeface="Arial" panose="020B0604020202020204" pitchFamily="34" charset="0"/>
                <a:buChar char="•"/>
                <a:defRPr sz="907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302200" indent="-144688" algn="l" defTabSz="578755" rtl="0" eaLnBrk="1" latinLnBrk="0" hangingPunct="1">
                <a:lnSpc>
                  <a:spcPct val="90000"/>
                </a:lnSpc>
                <a:spcBef>
                  <a:spcPts val="317"/>
                </a:spcBef>
                <a:buFont typeface="Arial" panose="020B0604020202020204" pitchFamily="34" charset="0"/>
                <a:buChar char="•"/>
                <a:defRPr sz="907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591576" indent="-144688" algn="l" defTabSz="578755" rtl="0" eaLnBrk="1" latinLnBrk="0" hangingPunct="1">
                <a:lnSpc>
                  <a:spcPct val="90000"/>
                </a:lnSpc>
                <a:spcBef>
                  <a:spcPts val="317"/>
                </a:spcBef>
                <a:buFont typeface="Arial" panose="020B0604020202020204" pitchFamily="34" charset="0"/>
                <a:buChar char="•"/>
                <a:defRPr sz="114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80955" indent="-144688" algn="l" defTabSz="578755" rtl="0" eaLnBrk="1" latinLnBrk="0" hangingPunct="1">
                <a:lnSpc>
                  <a:spcPct val="90000"/>
                </a:lnSpc>
                <a:spcBef>
                  <a:spcPts val="317"/>
                </a:spcBef>
                <a:buFont typeface="Arial" panose="020B0604020202020204" pitchFamily="34" charset="0"/>
                <a:buChar char="•"/>
                <a:defRPr sz="114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70334" indent="-144688" algn="l" defTabSz="578755" rtl="0" eaLnBrk="1" latinLnBrk="0" hangingPunct="1">
                <a:lnSpc>
                  <a:spcPct val="90000"/>
                </a:lnSpc>
                <a:spcBef>
                  <a:spcPts val="317"/>
                </a:spcBef>
                <a:buFont typeface="Arial" panose="020B0604020202020204" pitchFamily="34" charset="0"/>
                <a:buChar char="•"/>
                <a:defRPr sz="114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59712" indent="-144688" algn="l" defTabSz="578755" rtl="0" eaLnBrk="1" latinLnBrk="0" hangingPunct="1">
                <a:lnSpc>
                  <a:spcPct val="90000"/>
                </a:lnSpc>
                <a:spcBef>
                  <a:spcPts val="317"/>
                </a:spcBef>
                <a:buFont typeface="Arial" panose="020B0604020202020204" pitchFamily="34" charset="0"/>
                <a:buChar char="•"/>
                <a:defRPr sz="114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ru-RU" sz="2000" b="1" dirty="0">
                  <a:solidFill>
                    <a:schemeClr val="accent5"/>
                  </a:solidFill>
                </a:rPr>
                <a:t>О команде</a:t>
              </a:r>
            </a:p>
          </p:txBody>
        </p:sp>
      </p:grp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644" y="1213362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911144" y="3952350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343735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0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50403" y="1904527"/>
            <a:ext cx="4945565" cy="169164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600" dirty="0">
                <a:solidFill>
                  <a:schemeClr val="tx1"/>
                </a:solidFill>
              </a:rPr>
              <a:t>Детектор в каждом кадре строит ось своего пути — сначала по рельсам, дальше по стенам — и проверяет над ней габарит шириной 2,0 м и высотой до 3,0 м. Каждому кадру дается метка: СТОП / ВНИМАНИЕ / СВОБОДНО и отображается расстояние до препятствия.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F75A5F61-9C71-1526-613A-EE342B6FA0C5}"/>
              </a:ext>
            </a:extLst>
          </p:cNvPr>
          <p:cNvGrpSpPr/>
          <p:nvPr/>
        </p:nvGrpSpPr>
        <p:grpSpPr>
          <a:xfrm>
            <a:off x="426532" y="819248"/>
            <a:ext cx="5486400" cy="1675439"/>
            <a:chOff x="395833" y="1404674"/>
            <a:chExt cx="5486400" cy="1675438"/>
          </a:xfrm>
        </p:grpSpPr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23043BB0-311D-F576-2594-F57AC57EDBFB}"/>
                </a:ext>
              </a:extLst>
            </p:cNvPr>
            <p:cNvGrpSpPr/>
            <p:nvPr/>
          </p:nvGrpSpPr>
          <p:grpSpPr>
            <a:xfrm>
              <a:off x="571077" y="2074272"/>
              <a:ext cx="5120640" cy="1005840"/>
              <a:chOff x="781610" y="4060651"/>
              <a:chExt cx="5120640" cy="1005840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781610" y="4060651"/>
                <a:ext cx="1005840" cy="1005840"/>
              </a:xfrm>
              <a:prstGeom prst="ellipse">
                <a:avLst/>
              </a:prstGeom>
              <a:solidFill>
                <a:srgbClr val="52097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2200" b="1" dirty="0">
                    <a:solidFill>
                      <a:srgbClr val="FFFFFF"/>
                    </a:solidFill>
                  </a:rPr>
                  <a:t>ИП</a:t>
                </a: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2153210" y="4060651"/>
                <a:ext cx="1005840" cy="1005840"/>
              </a:xfrm>
              <a:prstGeom prst="ellipse">
                <a:avLst/>
              </a:prstGeom>
              <a:solidFill>
                <a:srgbClr val="52097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2200" b="1" dirty="0">
                    <a:solidFill>
                      <a:srgbClr val="FFFFFF"/>
                    </a:solidFill>
                  </a:rPr>
                  <a:t>МС</a:t>
                </a: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3524810" y="4060651"/>
                <a:ext cx="1005840" cy="1005840"/>
              </a:xfrm>
              <a:prstGeom prst="ellipse">
                <a:avLst/>
              </a:prstGeom>
              <a:solidFill>
                <a:srgbClr val="FF005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2200" b="1" dirty="0">
                    <a:solidFill>
                      <a:srgbClr val="FFFFFF"/>
                    </a:solidFill>
                  </a:rPr>
                  <a:t>ВА</a:t>
                </a:r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4896410" y="4060651"/>
                <a:ext cx="1005840" cy="1005840"/>
              </a:xfrm>
              <a:prstGeom prst="ellipse">
                <a:avLst/>
              </a:prstGeom>
              <a:solidFill>
                <a:srgbClr val="52097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2200" b="1" dirty="0">
                    <a:solidFill>
                      <a:srgbClr val="FFFFFF"/>
                    </a:solidFill>
                  </a:rPr>
                  <a:t>СК</a:t>
                </a:r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395833" y="1404674"/>
              <a:ext cx="5486400" cy="4308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ru-RU" sz="2800" b="1" dirty="0">
                  <a:solidFill>
                    <a:srgbClr val="520978"/>
                  </a:solidFill>
                </a:rPr>
                <a:t>Команда «Голуби»</a:t>
              </a:r>
            </a:p>
          </p:txBody>
        </p:sp>
      </p:grp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5BD85A7-DBCA-0113-A899-0C25418CED1A}"/>
              </a:ext>
            </a:extLst>
          </p:cNvPr>
          <p:cNvCxnSpPr>
            <a:cxnSpLocks/>
          </p:cNvCxnSpPr>
          <p:nvPr/>
        </p:nvCxnSpPr>
        <p:spPr>
          <a:xfrm>
            <a:off x="6911144" y="6282042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0A4EAAA0-62E4-17AB-2C21-8813C62FAF72}"/>
              </a:ext>
            </a:extLst>
          </p:cNvPr>
          <p:cNvCxnSpPr>
            <a:cxnSpLocks/>
          </p:cNvCxnSpPr>
          <p:nvPr/>
        </p:nvCxnSpPr>
        <p:spPr>
          <a:xfrm>
            <a:off x="111729" y="3603646"/>
            <a:ext cx="6007223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3803538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610885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8414175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1498220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237374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/>
              <a:t>УЧАСТНИКИ</a:t>
            </a:r>
          </a:p>
        </p:txBody>
      </p:sp>
      <p:sp>
        <p:nvSpPr>
          <p:cNvPr id="65" name="Oval 64"/>
          <p:cNvSpPr/>
          <p:nvPr/>
        </p:nvSpPr>
        <p:spPr>
          <a:xfrm>
            <a:off x="1909699" y="1920240"/>
            <a:ext cx="1371600" cy="1371600"/>
          </a:xfrm>
          <a:prstGeom prst="ellipse">
            <a:avLst/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ИП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35379" y="365760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1800" b="1">
                <a:solidFill>
                  <a:srgbClr val="520978"/>
                </a:solidFill>
              </a:rPr>
              <a:t>Павлов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89660" y="4069080"/>
            <a:ext cx="2011680" cy="1000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1300" b="0" dirty="0">
                <a:solidFill>
                  <a:srgbClr val="1C1D22"/>
                </a:solidFill>
              </a:rPr>
              <a:t>Иван Александрович</a:t>
            </a:r>
          </a:p>
          <a:p>
            <a:pPr algn="ctr"/>
            <a:endParaRPr lang="ru-RU" sz="1300" dirty="0">
              <a:solidFill>
                <a:srgbClr val="1C1D22"/>
              </a:solidFill>
            </a:endParaRPr>
          </a:p>
          <a:p>
            <a:pPr algn="ctr"/>
            <a:r>
              <a:rPr lang="ru-RU" sz="1300" dirty="0">
                <a:solidFill>
                  <a:srgbClr val="1C1D22"/>
                </a:solidFill>
              </a:rPr>
              <a:t>Колледж Университета «Сириус»</a:t>
            </a:r>
            <a:endParaRPr lang="ru-RU" sz="1300" b="0" dirty="0">
              <a:solidFill>
                <a:srgbClr val="1C1D22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4215018" y="1920240"/>
            <a:ext cx="1371600" cy="1371600"/>
          </a:xfrm>
          <a:prstGeom prst="ellipse">
            <a:avLst/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МС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40698" y="365760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1800" b="1">
                <a:solidFill>
                  <a:srgbClr val="520978"/>
                </a:solidFill>
              </a:rPr>
              <a:t>Спирин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94977" y="4069080"/>
            <a:ext cx="2011680" cy="1000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1300" b="0" dirty="0">
                <a:solidFill>
                  <a:srgbClr val="1C1D22"/>
                </a:solidFill>
              </a:rPr>
              <a:t>Макар Юрьевич</a:t>
            </a:r>
          </a:p>
          <a:p>
            <a:pPr algn="ctr"/>
            <a:endParaRPr lang="ru-RU" sz="1300" dirty="0">
              <a:solidFill>
                <a:srgbClr val="1C1D22"/>
              </a:solidFill>
            </a:endParaRPr>
          </a:p>
          <a:p>
            <a:pPr algn="ctr"/>
            <a:r>
              <a:rPr lang="ru-RU" sz="1300" dirty="0">
                <a:solidFill>
                  <a:srgbClr val="1C1D22"/>
                </a:solidFill>
              </a:rPr>
              <a:t>Государственный университет управления</a:t>
            </a:r>
            <a:endParaRPr lang="ru-RU" sz="1300" b="0" dirty="0">
              <a:solidFill>
                <a:srgbClr val="1C1D22"/>
              </a:solidFill>
            </a:endParaRPr>
          </a:p>
        </p:txBody>
      </p:sp>
      <p:sp>
        <p:nvSpPr>
          <p:cNvPr id="71" name="Oval 70"/>
          <p:cNvSpPr/>
          <p:nvPr/>
        </p:nvSpPr>
        <p:spPr>
          <a:xfrm>
            <a:off x="6520336" y="1920240"/>
            <a:ext cx="1371600" cy="1371600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ВА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46016" y="365760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1800" b="1">
                <a:solidFill>
                  <a:srgbClr val="520978"/>
                </a:solidFill>
              </a:rPr>
              <a:t>Аргун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00296" y="4069080"/>
            <a:ext cx="2011680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1300" b="0" dirty="0">
                <a:solidFill>
                  <a:srgbClr val="1C1D22"/>
                </a:solidFill>
              </a:rPr>
              <a:t>Владислав </a:t>
            </a:r>
            <a:r>
              <a:rPr lang="ru-RU" sz="1300" b="0" dirty="0" err="1">
                <a:solidFill>
                  <a:srgbClr val="1C1D22"/>
                </a:solidFill>
              </a:rPr>
              <a:t>Гарриевич</a:t>
            </a:r>
            <a:endParaRPr lang="ru-RU" sz="1300" b="0" dirty="0">
              <a:solidFill>
                <a:srgbClr val="1C1D22"/>
              </a:solidFill>
            </a:endParaRPr>
          </a:p>
          <a:p>
            <a:pPr algn="ctr"/>
            <a:endParaRPr lang="ru-RU" sz="1300" dirty="0">
              <a:solidFill>
                <a:srgbClr val="1C1D22"/>
              </a:solidFill>
            </a:endParaRPr>
          </a:p>
          <a:p>
            <a:pPr algn="ctr"/>
            <a:r>
              <a:rPr lang="ru-RU" sz="1300" b="0" dirty="0">
                <a:solidFill>
                  <a:srgbClr val="1C1D22"/>
                </a:solidFill>
              </a:rPr>
              <a:t>ФКН</a:t>
            </a:r>
          </a:p>
          <a:p>
            <a:pPr algn="ctr"/>
            <a:r>
              <a:rPr lang="ru-RU" sz="1300" dirty="0">
                <a:solidFill>
                  <a:srgbClr val="1C1D22"/>
                </a:solidFill>
              </a:rPr>
              <a:t>НИУ ВШЭ</a:t>
            </a:r>
            <a:endParaRPr lang="ru-RU" sz="1300" b="0" dirty="0">
              <a:solidFill>
                <a:srgbClr val="1C1D22"/>
              </a:solidFill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6566056" y="5074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капитан</a:t>
            </a:r>
          </a:p>
        </p:txBody>
      </p:sp>
      <p:sp>
        <p:nvSpPr>
          <p:cNvPr id="75" name="Oval 74"/>
          <p:cNvSpPr/>
          <p:nvPr/>
        </p:nvSpPr>
        <p:spPr>
          <a:xfrm>
            <a:off x="8825655" y="1920240"/>
            <a:ext cx="1371600" cy="1371600"/>
          </a:xfrm>
          <a:prstGeom prst="ellipse">
            <a:avLst/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СК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51335" y="365760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1800" b="1">
                <a:solidFill>
                  <a:srgbClr val="520978"/>
                </a:solidFill>
              </a:rPr>
              <a:t>Киреев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29130" y="4069080"/>
            <a:ext cx="2364650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1300" b="0" dirty="0">
                <a:solidFill>
                  <a:srgbClr val="1C1D22"/>
                </a:solidFill>
              </a:rPr>
              <a:t>Станислав Дмитриевич</a:t>
            </a:r>
          </a:p>
          <a:p>
            <a:pPr algn="ctr"/>
            <a:endParaRPr lang="ru-RU" sz="1300" dirty="0">
              <a:solidFill>
                <a:srgbClr val="1C1D22"/>
              </a:solidFill>
            </a:endParaRPr>
          </a:p>
          <a:p>
            <a:pPr algn="ctr"/>
            <a:r>
              <a:rPr lang="ru-RU" sz="1300" b="0" dirty="0">
                <a:solidFill>
                  <a:srgbClr val="1C1D22"/>
                </a:solidFill>
              </a:rPr>
              <a:t>ФКН</a:t>
            </a:r>
            <a:br>
              <a:rPr lang="ru-RU" sz="1300" b="0" dirty="0">
                <a:solidFill>
                  <a:srgbClr val="1C1D22"/>
                </a:solidFill>
              </a:rPr>
            </a:br>
            <a:r>
              <a:rPr lang="ru-RU" sz="1300" b="0" dirty="0">
                <a:solidFill>
                  <a:srgbClr val="1C1D22"/>
                </a:solidFill>
              </a:rPr>
              <a:t>НИУ ВШЭ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6408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/>
              <a:t>КОМАНДА И ЗАДАЧА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4480560"/>
            <a:ext cx="1024128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dirty="0">
                <a:solidFill>
                  <a:schemeClr val="tx1"/>
                </a:solidFill>
              </a:rPr>
              <a:t>Реальное препятствие в данных одно → дальность меряли синтетикой, вставленной в реальные кадры лучами датчика. Одометрии нет → скорость поезда оцениваем по самой сцене. Ложные тревоги в кривых → основные силы ушли в модель пути.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3703320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2148840"/>
            <a:ext cx="1024128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dirty="0">
                <a:solidFill>
                  <a:schemeClr val="tx1"/>
                </a:solidFill>
              </a:rPr>
              <a:t>Реальная прикладная задача: беспилотный поезд должен замечать препятствия ещё до того как их заметит машинист и сообщить об этом . Задача</a:t>
            </a:r>
            <a:r>
              <a:rPr lang="en-US" sz="1600" dirty="0">
                <a:solidFill>
                  <a:schemeClr val="tx1"/>
                </a:solidFill>
              </a:rPr>
              <a:t>,</a:t>
            </a:r>
            <a:r>
              <a:rPr lang="ru-RU" sz="1600" dirty="0">
                <a:solidFill>
                  <a:schemeClr val="tx1"/>
                </a:solidFill>
              </a:rPr>
              <a:t> требует инженерной ловкости и оригинальности.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1371600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342900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1371600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3703320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3" y="1770270"/>
            <a:ext cx="5440313" cy="3876445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5" y="1770270"/>
            <a:ext cx="5440313" cy="3876445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2" y="2479913"/>
            <a:ext cx="4929861" cy="3868581"/>
          </a:xfrm>
        </p:spPr>
        <p:txBody>
          <a:bodyPr>
            <a:normAutofit/>
          </a:bodyPr>
          <a:lstStyle/>
          <a:p>
            <a:pPr algn="just"/>
            <a:r>
              <a:rPr lang="ru-RU" sz="1400" dirty="0">
                <a:solidFill>
                  <a:schemeClr val="tx1"/>
                </a:solidFill>
              </a:rPr>
              <a:t>Вход — облако Hesai 128E3X, 10 Гц, ROS 2 Humble</a:t>
            </a:r>
          </a:p>
          <a:p>
            <a:pPr algn="just"/>
            <a:r>
              <a:rPr lang="ru-RU" sz="1400" dirty="0">
                <a:solidFill>
                  <a:schemeClr val="tx1"/>
                </a:solidFill>
              </a:rPr>
              <a:t>Ось своего пути в каждом кадре: по рельсам до ~40 м, дальше по стенам до 150–200 м</a:t>
            </a:r>
          </a:p>
          <a:p>
            <a:pPr algn="just"/>
            <a:r>
              <a:rPr lang="ru-RU" sz="1400" dirty="0">
                <a:solidFill>
                  <a:schemeClr val="tx1"/>
                </a:solidFill>
              </a:rPr>
              <a:t>Габарит шириной 2,0 м, высотой 3,0 м в ближней зоне → объекты → накопление по кадрам с учётом движения поезда</a:t>
            </a:r>
          </a:p>
          <a:p>
            <a:pPr algn="just"/>
            <a:r>
              <a:rPr lang="ru-RU" sz="1400" dirty="0">
                <a:solidFill>
                  <a:schemeClr val="tx1"/>
                </a:solidFill>
              </a:rPr>
              <a:t>Выход /tunnel_od/result: СТОП / ВНИМАНИЕ / СВОБОДНО / нет данных + дистанция</a:t>
            </a:r>
          </a:p>
          <a:p>
            <a:pPr algn="just"/>
            <a:r>
              <a:rPr lang="ru-RU" sz="1400" dirty="0">
                <a:solidFill>
                  <a:schemeClr val="tx1"/>
                </a:solidFill>
              </a:rPr>
              <a:t>Запуск: docker compose up play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2" y="2479913"/>
            <a:ext cx="4957144" cy="3876445"/>
          </a:xfrm>
        </p:spPr>
        <p:txBody>
          <a:bodyPr>
            <a:normAutofit/>
          </a:bodyPr>
          <a:lstStyle/>
          <a:p>
            <a:pPr algn="just"/>
            <a:r>
              <a:rPr lang="ru-RU" sz="1400" dirty="0">
                <a:solidFill>
                  <a:schemeClr val="tx1"/>
                </a:solidFill>
              </a:rPr>
              <a:t>«Второй машинист» для беспилотного поезда: стандартный ROS-топик, встраивается в существующую систему</a:t>
            </a:r>
          </a:p>
          <a:p>
            <a:pPr algn="just"/>
            <a:r>
              <a:rPr lang="ru-RU" sz="1400" dirty="0">
                <a:solidFill>
                  <a:schemeClr val="tx1"/>
                </a:solidFill>
              </a:rPr>
              <a:t>CPU без GPU — путь к бортовому вычислителю</a:t>
            </a:r>
          </a:p>
          <a:p>
            <a:pPr algn="just"/>
            <a:r>
              <a:rPr lang="ru-RU" sz="1400" dirty="0">
                <a:solidFill>
                  <a:schemeClr val="tx1"/>
                </a:solidFill>
              </a:rPr>
              <a:t>Не нужны разметка и карта тоннеля — новые линии без переобучения</a:t>
            </a:r>
          </a:p>
          <a:p>
            <a:pPr algn="just"/>
            <a:r>
              <a:rPr lang="ru-RU" sz="1400" dirty="0">
                <a:solidFill>
                  <a:schemeClr val="tx1"/>
                </a:solidFill>
              </a:rPr>
              <a:t>Дальше: объекты у края габарита, отклоняющийся путь на стрелках, проверка на реальных проездах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2" y="2035569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2" y="2035569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437054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6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10058400" cy="376138"/>
          </a:xfrm>
        </p:spPr>
        <p:txBody>
          <a:bodyPr/>
          <a:lstStyle/>
          <a:p>
            <a:r>
              <a:rPr lang="ru-RU"/>
              <a:t>КАК РАБОТАЕТ ДЕТЕКТОР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347472" y="1499616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Облако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" y="1874519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убираем пустые точки и дубли dual return — облако в 3–5 раз меньше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09744" y="1499616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Ось пути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09744" y="1874519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рельсы своего пути вблизи, дальше — стены тоннеля, до 150–200 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62872" y="1499616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Габарит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62872" y="1874519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±1,0 м от оси; от 0,15 м над рельсом до 3,0 м вблизи (~40 м), дальше до 1,5 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33472" y="495604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Объекты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33472" y="5330952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точки → кластеры; кабели и край платформы (цепочки &gt; 8 м) отсеиваем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4031" y="4919472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Решение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14031" y="5294376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копим свидетельство по кадрам с учётом движения → СТОП, X м</a:t>
            </a:r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7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40"/>
            <a:ext cx="4846320" cy="822960"/>
          </a:xfrm>
        </p:spPr>
        <p:txBody>
          <a:bodyPr/>
          <a:lstStyle/>
          <a:p>
            <a:r>
              <a:rPr lang="ru-RU" sz="2000">
                <a:solidFill>
                  <a:srgbClr val="520978"/>
                </a:solidFill>
              </a:rPr>
              <a:t>ГЛАВНЫЙ ИСТОЧНИК ЛОЖНЫХ ТРЕВОГ — КРИВЫЕ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00200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800"/>
              </a:spcAft>
              <a:buClr>
                <a:srgbClr val="FF0053"/>
              </a:buClr>
              <a:buChar char="•"/>
            </a:pPr>
            <a:r>
              <a:rPr lang="ru-RU" sz="1400" b="0">
                <a:solidFill>
                  <a:srgbClr val="1C1D22"/>
                </a:solidFill>
              </a:rPr>
              <a:t>Разведка данных: ложные точки в коридоре дают не лужи и знаки, а ошибка оси в кривых на 35–80 м</a:t>
            </a:r>
          </a:p>
          <a:p>
            <a:pPr marL="182880" indent="-182880">
              <a:spcAft>
                <a:spcPts val="800"/>
              </a:spcAft>
              <a:buClr>
                <a:srgbClr val="FF0053"/>
              </a:buClr>
              <a:buChar char="•"/>
            </a:pPr>
            <a:r>
              <a:rPr lang="ru-RU" sz="1400" b="0">
                <a:solidFill>
                  <a:srgbClr val="1C1D22"/>
                </a:solidFill>
              </a:rPr>
              <a:t>Прямая ось недокручивается — стена входит в коридор, до 1025 точек на кадр</a:t>
            </a:r>
          </a:p>
          <a:p>
            <a:pPr marL="182880" indent="-182880">
              <a:spcAft>
                <a:spcPts val="800"/>
              </a:spcAft>
              <a:buClr>
                <a:srgbClr val="FF0053"/>
              </a:buClr>
              <a:buChar char="•"/>
            </a:pPr>
            <a:r>
              <a:rPr lang="ru-RU" sz="1400" b="0">
                <a:solidFill>
                  <a:srgbClr val="1C1D22"/>
                </a:solidFill>
              </a:rPr>
              <a:t>Поэтому упор — на модель пути: ось по стенам с шагом по параболе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1605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400" b="1">
                <a:solidFill>
                  <a:srgbClr val="520978"/>
                </a:solidFill>
              </a:rPr>
              <a:t>Ошибка оси на 80–160 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720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000" b="1">
                <a:solidFill>
                  <a:srgbClr val="6B6B78"/>
                </a:solidFill>
              </a:rPr>
              <a:t>было 0,3–0,76 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029200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3000" b="1">
                <a:solidFill>
                  <a:srgbClr val="FF0053"/>
                </a:solidFill>
              </a:rPr>
              <a:t>стало 0,02–0,04 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7607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100" b="0">
                <a:solidFill>
                  <a:srgbClr val="6B6B78"/>
                </a:solidFill>
              </a:rPr>
              <a:t>синтетическая дуга R = 300–800 м</a:t>
            </a:r>
          </a:p>
        </p:txBody>
      </p:sp>
      <p:pic>
        <p:nvPicPr>
          <p:cNvPr id="15" name="Picture 14" descr="vis_curve_rT_sT_f4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554480"/>
            <a:ext cx="5715000" cy="2857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72200" y="4526280"/>
            <a:ext cx="5715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200" b="0">
                <a:solidFill>
                  <a:srgbClr val="FFFFFF"/>
                </a:solidFill>
              </a:rPr>
              <a:t>Кадр 475 из записи с гермозатвором: в кривой стена входит в прямой коридор (срез справа). Красная рамка — габарит ТЗ 2,1 × 3 м.</a:t>
            </a: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1438215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demo.html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demo.html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10058400" cy="376138"/>
          </a:xfrm>
        </p:spPr>
        <p:txBody>
          <a:bodyPr/>
          <a:lstStyle/>
          <a:p>
            <a:r>
              <a:rPr lang="ru-RU"/>
              <a:t>ДЕМО</a:t>
            </a:r>
          </a:p>
        </p:txBody>
      </p:sp>
      <p:pic>
        <p:nvPicPr>
          <p:cNvPr id="56" name="Picture 55" descr="crop_stop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1572768"/>
            <a:ext cx="4215384" cy="2340864"/>
          </a:xfrm>
          <a:prstGeom prst="rect">
            <a:avLst/>
          </a:prstGeom>
        </p:spPr>
      </p:pic>
      <p:pic>
        <p:nvPicPr>
          <p:cNvPr id="57" name="Picture 56" descr="crop_p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1572768"/>
            <a:ext cx="4215384" cy="234086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48640" y="4224528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тоннель → облако → детектор → СТОП, 31,7 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0292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100" b="0">
                <a:solidFill>
                  <a:srgbClr val="6B6B78"/>
                </a:solidFill>
              </a:rPr>
              <a:t>Веб-плеер demo.html, записи лидара. Слева — человек на пути, подъезд со 170 м. Справа — реальный предмет на рельсе: СТОП, 55,8 м. Плеер открывается по QR-коду.</a:t>
            </a:r>
          </a:p>
        </p:txBody>
      </p:sp>
      <p:pic>
        <p:nvPicPr>
          <p:cNvPr id="60" name="Picture 59" descr="crop_stop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4224528"/>
            <a:ext cx="3474720" cy="141732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4343400" y="571500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200" b="1">
                <a:solidFill>
                  <a:srgbClr val="FF0053"/>
                </a:solidFill>
              </a:rPr>
              <a:t>СТОП, 94 м</a:t>
            </a:r>
          </a:p>
        </p:txBody>
      </p:sp>
      <p:pic>
        <p:nvPicPr>
          <p:cNvPr id="62" name="Picture 61" descr="crop_caution1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4224528"/>
            <a:ext cx="3474720" cy="141732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092440" y="571500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200" b="1">
                <a:solidFill>
                  <a:srgbClr val="520978"/>
                </a:solidFill>
              </a:rPr>
              <a:t>ВНИМАНИЕ, 167 м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3E78EB3-89ED-C13C-004C-1D11AE950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0" b="98171" l="1220" r="98171">
                        <a14:foregroundMark x1="20732" y1="45732" x2="20732" y2="45732"/>
                        <a14:foregroundMark x1="19512" y1="44512" x2="19512" y2="44512"/>
                        <a14:foregroundMark x1="18902" y1="19512" x2="18902" y2="19512"/>
                        <a14:foregroundMark x1="29268" y1="15244" x2="29268" y2="15244"/>
                        <a14:foregroundMark x1="42073" y1="15244" x2="42073" y2="15244"/>
                        <a14:foregroundMark x1="46341" y1="16463" x2="46341" y2="16463"/>
                        <a14:foregroundMark x1="51829" y1="19512" x2="36585" y2="59146"/>
                        <a14:foregroundMark x1="36585" y1="59146" x2="50610" y2="28049"/>
                        <a14:foregroundMark x1="50610" y1="28049" x2="25610" y2="68293"/>
                        <a14:foregroundMark x1="25610" y1="68293" x2="83251" y2="48586"/>
                        <a14:foregroundMark x1="68293" y1="18293" x2="43902" y2="71951"/>
                        <a14:foregroundMark x1="43902" y1="71951" x2="84598" y2="53168"/>
                        <a14:foregroundMark x1="80853" y1="34545" x2="72561" y2="29268"/>
                        <a14:foregroundMark x1="85976" y1="37805" x2="84401" y2="36803"/>
                        <a14:foregroundMark x1="72561" y1="29268" x2="23171" y2="81707"/>
                        <a14:foregroundMark x1="23171" y1="81707" x2="68902" y2="19512"/>
                        <a14:foregroundMark x1="68902" y1="19512" x2="48171" y2="33537"/>
                        <a14:foregroundMark x1="81838" y1="20522" x2="23171" y2="69512"/>
                        <a14:foregroundMark x1="23171" y1="69512" x2="39835" y2="86177"/>
                        <a14:foregroundMark x1="85761" y1="87220" x2="82927" y2="57927"/>
                        <a14:foregroundMark x1="89011" y1="37805" x2="89494" y2="36206"/>
                        <a14:foregroundMark x1="86645" y1="45630" x2="87720" y2="42073"/>
                        <a14:foregroundMark x1="82927" y1="57927" x2="84484" y2="52778"/>
                        <a14:foregroundMark x1="81015" y1="19318" x2="76168" y2="13215"/>
                        <a14:foregroundMark x1="86372" y1="26063" x2="81961" y2="20509"/>
                        <a14:foregroundMark x1="20425" y1="18293" x2="17822" y2="18646"/>
                        <a14:foregroundMark x1="24924" y1="17683" x2="20425" y2="18293"/>
                        <a14:foregroundMark x1="29423" y1="17073" x2="24924" y2="17683"/>
                        <a14:foregroundMark x1="33922" y1="16463" x2="29423" y2="17073"/>
                        <a14:foregroundMark x1="38413" y1="15854" x2="33922" y2="16463"/>
                        <a14:foregroundMark x1="42912" y1="15244" x2="38413" y2="15854"/>
                        <a14:foregroundMark x1="47411" y1="14634" x2="42912" y2="15244"/>
                        <a14:foregroundMark x1="51910" y1="14024" x2="47411" y2="14634"/>
                        <a14:foregroundMark x1="54749" y1="13639" x2="51910" y2="14024"/>
                        <a14:foregroundMark x1="59337" y1="13017" x2="57816" y2="13223"/>
                        <a14:foregroundMark x1="7927" y1="99390" x2="14791" y2="98990"/>
                        <a14:foregroundMark x1="70122" y1="82927" x2="81098" y2="86585"/>
                        <a14:foregroundMark x1="89024" y1="71951" x2="51220" y2="73780"/>
                        <a14:backgroundMark x1="2439" y1="30488" x2="2439" y2="30488"/>
                        <a14:backgroundMark x1="2439" y1="28659" x2="2439" y2="28659"/>
                        <a14:backgroundMark x1="4878" y1="18902" x2="4268" y2="22561"/>
                        <a14:backgroundMark x1="7317" y1="9146" x2="8537" y2="96341"/>
                        <a14:backgroundMark x1="17683" y1="94512" x2="98171" y2="96341"/>
                        <a14:backgroundMark x1="93902" y1="75000" x2="93902" y2="610"/>
                        <a14:backgroundMark x1="77439" y1="4268" x2="3049" y2="4268"/>
                        <a14:backgroundMark x1="78659" y1="4268" x2="93902" y2="6098"/>
                        <a14:backgroundMark x1="97561" y1="46951" x2="97561" y2="12195"/>
                        <a14:backgroundMark x1="95732" y1="50000" x2="95732" y2="15854"/>
                        <a14:backgroundMark x1="90244" y1="7927" x2="91463" y2="19512"/>
                        <a14:backgroundMark x1="90244" y1="25610" x2="91463" y2="35976"/>
                        <a14:backgroundMark x1="90854" y1="37805" x2="90854" y2="42073"/>
                        <a14:backgroundMark x1="90854" y1="47561" x2="90854" y2="42683"/>
                        <a14:backgroundMark x1="95732" y1="43293" x2="98171" y2="45122"/>
                        <a14:backgroundMark x1="92683" y1="43902" x2="95732" y2="54268"/>
                        <a14:backgroundMark x1="17683" y1="30488" x2="17683" y2="30488"/>
                        <a14:backgroundMark x1="28049" y1="21951" x2="28049" y2="21951"/>
                        <a14:backgroundMark x1="20122" y1="22561" x2="20122" y2="22561"/>
                        <a14:backgroundMark x1="22561" y1="23171" x2="22561" y2="23171"/>
                        <a14:backgroundMark x1="22561" y1="13415" x2="22561" y2="13415"/>
                        <a14:backgroundMark x1="21951" y1="17073" x2="21951" y2="17073"/>
                        <a14:backgroundMark x1="23171" y1="19512" x2="23171" y2="19512"/>
                        <a14:backgroundMark x1="22561" y1="18293" x2="22561" y2="18293"/>
                        <a14:backgroundMark x1="23780" y1="17683" x2="23780" y2="17683"/>
                        <a14:backgroundMark x1="27439" y1="15854" x2="27439" y2="15854"/>
                        <a14:backgroundMark x1="27439" y1="18902" x2="27439" y2="18902"/>
                        <a14:backgroundMark x1="27439" y1="17073" x2="27439" y2="17073"/>
                        <a14:backgroundMark x1="28049" y1="17683" x2="28049" y2="17683"/>
                        <a14:backgroundMark x1="28049" y1="15244" x2="28049" y2="15244"/>
                        <a14:backgroundMark x1="28049" y1="16463" x2="28049" y2="16463"/>
                        <a14:backgroundMark x1="37805" y1="18902" x2="37805" y2="18902"/>
                        <a14:backgroundMark x1="37195" y1="18293" x2="37195" y2="18293"/>
                        <a14:backgroundMark x1="37195" y1="18293" x2="37195" y2="18293"/>
                        <a14:backgroundMark x1="37195" y1="18293" x2="37195" y2="18293"/>
                        <a14:backgroundMark x1="37195" y1="17683" x2="37195" y2="17683"/>
                        <a14:backgroundMark x1="37195" y1="17683" x2="37195" y2="17683"/>
                        <a14:backgroundMark x1="37195" y1="17683" x2="37195" y2="17683"/>
                        <a14:backgroundMark x1="39634" y1="17073" x2="39634" y2="17073"/>
                        <a14:backgroundMark x1="39634" y1="17073" x2="39634" y2="17073"/>
                        <a14:backgroundMark x1="39634" y1="17073" x2="39634" y2="17073"/>
                        <a14:backgroundMark x1="35366" y1="16463" x2="35366" y2="16463"/>
                        <a14:backgroundMark x1="35366" y1="16463" x2="35366" y2="16463"/>
                        <a14:backgroundMark x1="35366" y1="16463" x2="35366" y2="16463"/>
                        <a14:backgroundMark x1="35366" y1="14634" x2="35366" y2="14634"/>
                        <a14:backgroundMark x1="35366" y1="14024" x2="35366" y2="14024"/>
                        <a14:backgroundMark x1="32317" y1="16463" x2="32317" y2="16463"/>
                        <a14:backgroundMark x1="32317" y1="16463" x2="32317" y2="16463"/>
                        <a14:backgroundMark x1="32317" y1="16463" x2="32317" y2="16463"/>
                        <a14:backgroundMark x1="34146" y1="16463" x2="34146" y2="16463"/>
                        <a14:backgroundMark x1="34146" y1="16463" x2="34146" y2="16463"/>
                        <a14:backgroundMark x1="34146" y1="16463" x2="34146" y2="16463"/>
                        <a14:backgroundMark x1="40854" y1="16463" x2="40854" y2="16463"/>
                        <a14:backgroundMark x1="40854" y1="16463" x2="40854" y2="16463"/>
                        <a14:backgroundMark x1="39634" y1="15244" x2="39634" y2="15244"/>
                        <a14:backgroundMark x1="39634" y1="15244" x2="39634" y2="15244"/>
                        <a14:backgroundMark x1="39634" y1="15244" x2="39634" y2="15244"/>
                        <a14:backgroundMark x1="38415" y1="15854" x2="38415" y2="15854"/>
                        <a14:backgroundMark x1="38415" y1="15854" x2="38415" y2="15854"/>
                        <a14:backgroundMark x1="37195" y1="15854" x2="37195" y2="15854"/>
                        <a14:backgroundMark x1="37195" y1="15854" x2="37195" y2="15854"/>
                        <a14:backgroundMark x1="40854" y1="15244" x2="40854" y2="15244"/>
                        <a14:backgroundMark x1="56707" y1="13415" x2="56707" y2="13415"/>
                        <a14:backgroundMark x1="56707" y1="12805" x2="56707" y2="12805"/>
                        <a14:backgroundMark x1="56707" y1="12805" x2="56707" y2="12805"/>
                        <a14:backgroundMark x1="57317" y1="14634" x2="57317" y2="14634"/>
                        <a14:backgroundMark x1="57317" y1="14634" x2="57317" y2="14634"/>
                        <a14:backgroundMark x1="57317" y1="14634" x2="57317" y2="14634"/>
                        <a14:backgroundMark x1="59146" y1="14634" x2="59146" y2="14634"/>
                        <a14:backgroundMark x1="59146" y1="14634" x2="59146" y2="14634"/>
                        <a14:backgroundMark x1="59146" y1="14634" x2="59146" y2="14634"/>
                        <a14:backgroundMark x1="59146" y1="13415" x2="59146" y2="13415"/>
                        <a14:backgroundMark x1="59146" y1="13415" x2="59146" y2="13415"/>
                        <a14:backgroundMark x1="59756" y1="11585" x2="59756" y2="11585"/>
                        <a14:backgroundMark x1="59756" y1="11585" x2="59756" y2="11585"/>
                        <a14:backgroundMark x1="59756" y1="14024" x2="59756" y2="14024"/>
                        <a14:backgroundMark x1="59756" y1="14024" x2="59756" y2="14024"/>
                        <a14:backgroundMark x1="56098" y1="12805" x2="56098" y2="12805"/>
                        <a14:backgroundMark x1="56098" y1="12805" x2="56098" y2="12805"/>
                        <a14:backgroundMark x1="57927" y1="13415" x2="54268" y2="128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722" y="1967629"/>
            <a:ext cx="1186555" cy="1186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600154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10058400" cy="376138"/>
          </a:xfrm>
        </p:spPr>
        <p:txBody>
          <a:bodyPr/>
          <a:lstStyle/>
          <a:p>
            <a:r>
              <a:rPr lang="ru-RU"/>
              <a:t>БЭГ ОРГАНИЗАТОРОВ: 10 ОБЪЕКТОВ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47472" y="1188720"/>
          <a:ext cx="576072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57200" y="5715000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000" b="0">
                <a:solidFill>
                  <a:srgbClr val="FFFFFF"/>
                </a:solidFill>
              </a:rPr>
              <a:t>1510 кадров, эталон организаторов. №2 и №3 стоят в кривой — в зону входят ближе 45–50 м; №8 в габарите по уточнению организаторов.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00584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200" b="1">
                <a:solidFill>
                  <a:srgbClr val="6B6B78"/>
                </a:solidFill>
              </a:rPr>
              <a:t>Главный показатель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234440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4400" b="1">
                <a:solidFill>
                  <a:srgbClr val="FF0053"/>
                </a:solidFill>
              </a:rPr>
              <a:t>8 из 8</a:t>
            </a:r>
            <a:r>
              <a:rPr lang="ru-RU" sz="2200" b="1">
                <a:solidFill>
                  <a:srgbClr val="FF0053"/>
                </a:solidFill>
              </a:rPr>
              <a:t>  СТОП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на всех объектах в габарите — исходная версия останавливала 5 из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44368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3200" b="1">
                <a:solidFill>
                  <a:srgbClr val="520978"/>
                </a:solidFill>
              </a:rPr>
              <a:t>0 ложных СТОП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на объектах вне габарита (№5, №7) — только ВНИМАНИЕ; ложных СТОП-кадров всего 4 из 1510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55464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3200" b="1">
                <a:solidFill>
                  <a:srgbClr val="520978"/>
                </a:solidFill>
              </a:rPr>
              <a:t>186 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568696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самый дальний первый СТОП — короб №6; куб 2 м — со 98 м, плита — со 100 м</a:t>
            </a:r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604484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10058400" cy="376138"/>
          </a:xfrm>
        </p:spPr>
        <p:txBody>
          <a:bodyPr/>
          <a:lstStyle/>
          <a:p>
            <a:r>
              <a:rPr lang="ru-RU"/>
              <a:t>ЛОЖНЫЕ ТРЕВОГИ: В 30 РАЗ МЕНЬШЕ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11480" y="1325880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5349240"/>
            <a:ext cx="5760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000" b="0">
                <a:solidFill>
                  <a:srgbClr val="6B6B78"/>
                </a:solidFill>
              </a:rPr>
              <a:t>Пустые записи — 5 записей без препятствий. new_data — отложенная запись 18,8 мин, при подборе параметров не использовалась. ВНИМАНИЕ (кандидат, без торможения) — 28,5 % кадров пустых записей.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0058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200" b="1">
                <a:solidFill>
                  <a:srgbClr val="6B6B78"/>
                </a:solidFill>
              </a:rPr>
              <a:t>Главный показатель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3258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3000" b="1" dirty="0">
                <a:solidFill>
                  <a:srgbClr val="FF0053"/>
                </a:solidFill>
              </a:rPr>
              <a:t>0,4 %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837943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ложных СТОП на пустых записях: 9 кадров из 2287 — в 30 раз меньше, чем у исходной версии (12,2 %)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532887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400" b="1">
                <a:solidFill>
                  <a:srgbClr val="520978"/>
                </a:solidFill>
              </a:rPr>
              <a:t>5,2 %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017519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кадров СТОП на new_data, 8 отрезков — было 14,6 %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712463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400" b="1">
                <a:solidFill>
                  <a:srgbClr val="520978"/>
                </a:solidFill>
              </a:rPr>
              <a:t>2,6 %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197095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на всей new_data: 11 271 кадр, 18,8 мин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892039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400" b="1">
                <a:solidFill>
                  <a:srgbClr val="520978"/>
                </a:solidFill>
              </a:rPr>
              <a:t>191 из 201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376671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кадров со СТОП у реального предмета на 56 м — было 49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F8B5D63-466F-E4D0-7456-167940DBA66C}"/>
              </a:ext>
            </a:extLst>
          </p:cNvPr>
          <p:cNvCxnSpPr>
            <a:cxnSpLocks/>
          </p:cNvCxnSpPr>
          <p:nvPr/>
        </p:nvCxnSpPr>
        <p:spPr>
          <a:xfrm>
            <a:off x="6766560" y="2407800"/>
            <a:ext cx="5206066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59AAF383-2622-3EBD-68D1-4FCC5B26142F}"/>
              </a:ext>
            </a:extLst>
          </p:cNvPr>
          <p:cNvCxnSpPr>
            <a:cxnSpLocks/>
          </p:cNvCxnSpPr>
          <p:nvPr/>
        </p:nvCxnSpPr>
        <p:spPr>
          <a:xfrm>
            <a:off x="6766560" y="3516355"/>
            <a:ext cx="5206066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2C134AE6-1B1C-6358-46D4-1B5CA2AB4B36}"/>
              </a:ext>
            </a:extLst>
          </p:cNvPr>
          <p:cNvCxnSpPr>
            <a:cxnSpLocks/>
          </p:cNvCxnSpPr>
          <p:nvPr/>
        </p:nvCxnSpPr>
        <p:spPr>
          <a:xfrm>
            <a:off x="6766560" y="4669297"/>
            <a:ext cx="5206066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03018627-17B5-3132-5B3C-E88F5710D1D1}"/>
              </a:ext>
            </a:extLst>
          </p:cNvPr>
          <p:cNvCxnSpPr>
            <a:cxnSpLocks/>
          </p:cNvCxnSpPr>
          <p:nvPr/>
        </p:nvCxnSpPr>
        <p:spPr>
          <a:xfrm>
            <a:off x="6766560" y="6016751"/>
            <a:ext cx="5206066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2249E38-27BC-716B-8376-E2B93F7803E0}"/>
              </a:ext>
            </a:extLst>
          </p:cNvPr>
          <p:cNvSpPr/>
          <p:nvPr/>
        </p:nvSpPr>
        <p:spPr>
          <a:xfrm>
            <a:off x="346075" y="324562"/>
            <a:ext cx="4755137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AB396A20-E834-48C0-B127-BCCEF2C85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6"/>
                </a:solidFill>
              </a:rPr>
              <a:pPr/>
              <a:t>11</a:t>
            </a:fld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953042C-EDBB-6E9B-218F-E6200FAA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10058400" cy="376138"/>
          </a:xfrm>
        </p:spPr>
        <p:txBody>
          <a:bodyPr/>
          <a:lstStyle/>
          <a:p>
            <a:r>
              <a:rPr lang="ru-RU"/>
              <a:t>ДАЛЬНОСТЬ ОБНАРУЖЕНИЯ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11480" y="1325880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5349240"/>
            <a:ext cx="5760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000" b="0">
                <a:solidFill>
                  <a:srgbClr val="6B6B78"/>
                </a:solidFill>
              </a:rPr>
              <a:t>Неподвижный объект вставлен в реальные кадры лучами датчика, поезд едет 10–15 м/с; 120 испытаний: 5 объектов × 4 старта × 6 окон движения. За поворотом путь закрыт стеной через 60–120 м.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0058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200" b="1">
                <a:solidFill>
                  <a:srgbClr val="6B6B78"/>
                </a:solidFill>
              </a:rPr>
              <a:t>Главный показатель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3258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3000" b="1">
                <a:solidFill>
                  <a:srgbClr val="FF0053"/>
                </a:solidFill>
              </a:rPr>
              <a:t>72 %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837943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объектов найдено при подъезде: 87 из 120 испытаний — было 58 % (70 из 120)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5146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400" b="1">
                <a:solidFill>
                  <a:srgbClr val="520978"/>
                </a:solidFill>
              </a:rPr>
              <a:t>160 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026664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человек на пути, подъезд со 170 м — было 116 м; со 220 м — 187 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7033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400" b="1">
                <a:solidFill>
                  <a:srgbClr val="520978"/>
                </a:solidFill>
              </a:rPr>
              <a:t>118 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215383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медиана дальности первого СТОП по всем испытаниям — было 99 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8920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400" b="1">
                <a:solidFill>
                  <a:srgbClr val="520978"/>
                </a:solidFill>
              </a:rPr>
              <a:t>3 см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404104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медианная ошибка дистанции; у 95 % — до 1 м</a:t>
            </a:r>
          </a:p>
        </p:txBody>
      </p:sp>
    </p:spTree>
    <p:extLst>
      <p:ext uri="{BB962C8B-B14F-4D97-AF65-F5344CB8AC3E}">
        <p14:creationId xmlns:p14="http://schemas.microsoft.com/office/powerpoint/2010/main" val="292064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14143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26974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26974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26974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26974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12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10058400" cy="376138"/>
          </a:xfrm>
        </p:spPr>
        <p:txBody>
          <a:bodyPr/>
          <a:lstStyle/>
          <a:p>
            <a:r>
              <a:rPr lang="ru-RU"/>
              <a:t>СКОРОСТЬ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1645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400" b="1">
                <a:solidFill>
                  <a:srgbClr val="8A83D1"/>
                </a:solidFill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01168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800" b="1">
                <a:solidFill>
                  <a:srgbClr val="FF0053"/>
                </a:solidFill>
              </a:rPr>
              <a:t>34 мс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697480"/>
            <a:ext cx="2331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400" b="0">
                <a:solidFill>
                  <a:srgbClr val="1C1D22"/>
                </a:solidFill>
              </a:rPr>
              <a:t>задержка узла p50 на 4 ядрах CPU; p95 — 48 мс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1645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400" b="1">
                <a:solidFill>
                  <a:srgbClr val="8A83D1"/>
                </a:solidFill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01168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800" b="1">
                <a:solidFill>
                  <a:srgbClr val="FF0053"/>
                </a:solidFill>
              </a:rPr>
              <a:t>50 мс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2697480"/>
            <a:ext cx="2331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400" b="0">
                <a:solidFill>
                  <a:srgbClr val="1C1D22"/>
                </a:solidFill>
              </a:rPr>
              <a:t>e2e p50: от облака до результата; p95 — 70 мс при бюджете 100 мс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1" y="1645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400" b="1">
                <a:solidFill>
                  <a:srgbClr val="8A83D1"/>
                </a:solidFill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1" y="201168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800" b="1">
                <a:solidFill>
                  <a:srgbClr val="FF0053"/>
                </a:solidFill>
              </a:rPr>
              <a:t>8 мс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1" y="2697480"/>
            <a:ext cx="2331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400" b="0">
                <a:solidFill>
                  <a:srgbClr val="1C1D22"/>
                </a:solidFill>
              </a:rPr>
              <a:t>разбор кадра 23 МБ на C++ — почти в 3 раза быстрее Python (22 мс); побитово 210 / 210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1645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400" b="1">
                <a:solidFill>
                  <a:srgbClr val="8A83D1"/>
                </a:solidFill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201168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800" b="1">
                <a:solidFill>
                  <a:srgbClr val="520978"/>
                </a:solidFill>
              </a:rPr>
              <a:t>0 потерь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697480"/>
            <a:ext cx="2331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400" b="0">
                <a:solidFill>
                  <a:srgbClr val="1C1D22"/>
                </a:solidFill>
              </a:rPr>
              <a:t>обработано 1510 кадров из 1510 на 4 ядрах; только CPU, GPU не нужен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1024128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200" b="0">
                <a:solidFill>
                  <a:srgbClr val="FFFFFF"/>
                </a:solidFill>
              </a:rPr>
              <a:t>Замер 29.09: Intel i5-1038NG7, Docker, docker compose up play, бэг организаторов (1510 кадров); разбор C++ — 7 записей по 30 кадров.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347472" y="4315968"/>
          <a:ext cx="10972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10058400" cy="442374"/>
          </a:xfrm>
        </p:spPr>
        <p:txBody>
          <a:bodyPr/>
          <a:lstStyle/>
          <a:p>
            <a:r>
              <a:rPr lang="ru-RU">
                <a:solidFill>
                  <a:srgbClr val="520978"/>
                </a:solidFill>
              </a:rPr>
              <a:t>СЛОЖНЫЕ УЧАСТКИ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13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1207" y="1645920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Лужи в жёлобе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645920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400" b="0">
                <a:solidFill>
                  <a:srgbClr val="1C1D22"/>
                </a:solidFill>
              </a:rPr>
              <a:t>нижняя граница зоны — 0,15 м над головкой рельса; высота полотна — по 10-му перцентилю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" y="2514600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Гермозатвор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514600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400" b="0">
                <a:solidFill>
                  <a:srgbClr val="1C1D22"/>
                </a:solidFill>
              </a:rPr>
              <a:t>рельс прослеживается через разрыв на пороге; портал не сбивает ось по стенам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" y="3392424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Стрелка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392424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400" b="0">
                <a:solidFill>
                  <a:srgbClr val="1C1D22"/>
                </a:solidFill>
              </a:rPr>
              <a:t>пара рельсов берётся у лидара и ведётся вперёд — ось не уходит на чужой путь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4224528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Платформа, контактный рельс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224528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400" b="0">
                <a:solidFill>
                  <a:srgbClr val="1C1D22"/>
                </a:solidFill>
              </a:rPr>
              <a:t>зона ±1,0 м; продольные цепочки длиннее 8 м — не препятствие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5093207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Засветы и знаки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5093207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400" b="0">
                <a:solidFill>
                  <a:srgbClr val="1C1D22"/>
                </a:solidFill>
              </a:rPr>
              <a:t>интенсивность не используем: фильтр по яркости срезал бы человека в световозвращающем жилете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21207" y="5916168"/>
            <a:ext cx="11338561" cy="0"/>
          </a:xfrm>
          <a:prstGeom prst="line">
            <a:avLst/>
          </a:prstGeom>
          <a:ln>
            <a:solidFill>
              <a:srgbClr val="520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21207" y="6035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100" b="0">
                <a:solidFill>
                  <a:srgbClr val="6B6B78"/>
                </a:solidFill>
              </a:rPr>
              <a:t>Разбор с кадрами из записей — docs/hard_cases.md</a:t>
            </a: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4774247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10058400" cy="376138"/>
          </a:xfrm>
        </p:spPr>
        <p:txBody>
          <a:bodyPr/>
          <a:lstStyle/>
          <a:p>
            <a:r>
              <a:rPr lang="ru-RU"/>
              <a:t>ТЕХНИЧЕСКАЯ ПРОРАБОТКА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155448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800" b="1">
                <a:solidFill>
                  <a:srgbClr val="520978"/>
                </a:solidFill>
              </a:rPr>
              <a:t>Запуск в три команды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103120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lang="ru-RU" sz="1400" b="0">
                <a:solidFill>
                  <a:srgbClr val="1C1D22"/>
                </a:solidFill>
                <a:latin typeface="Courier New"/>
              </a:rPr>
              <a:t>docker compose build</a:t>
            </a:r>
          </a:p>
          <a:p>
            <a:pPr>
              <a:spcAft>
                <a:spcPts val="800"/>
              </a:spcAft>
            </a:pPr>
            <a:r>
              <a:rPr lang="ru-RU" sz="1400" b="0">
                <a:solidFill>
                  <a:srgbClr val="1C1D22"/>
                </a:solidFill>
                <a:latin typeface="Courier New"/>
              </a:rPr>
              <a:t>BAG=&lt;запись&gt; docker compose up play</a:t>
            </a:r>
          </a:p>
          <a:p>
            <a:pPr>
              <a:spcAft>
                <a:spcPts val="800"/>
              </a:spcAft>
            </a:pPr>
            <a:r>
              <a:rPr lang="ru-RU" sz="1400" b="0">
                <a:solidFill>
                  <a:srgbClr val="1C1D22"/>
                </a:solidFill>
                <a:latin typeface="Courier New"/>
              </a:rPr>
              <a:t>docker compose run --rm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29184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600"/>
              </a:spcAft>
              <a:buClr>
                <a:srgbClr val="FF0053"/>
              </a:buClr>
              <a:buChar char="•"/>
            </a:pPr>
            <a:r>
              <a:rPr lang="ru-RU" sz="1300" b="0">
                <a:solidFill>
                  <a:srgbClr val="1C1D22"/>
                </a:solidFill>
              </a:rPr>
              <a:t>все зависимости ставятся при сборке, сеть при запуске не нужна</a:t>
            </a:r>
          </a:p>
          <a:p>
            <a:pPr marL="182880" indent="-182880">
              <a:spcAft>
                <a:spcPts val="600"/>
              </a:spcAft>
              <a:buClr>
                <a:srgbClr val="FF0053"/>
              </a:buClr>
              <a:buChar char="•"/>
            </a:pPr>
            <a:r>
              <a:rPr lang="ru-RU" sz="1300" b="0">
                <a:solidFill>
                  <a:srgbClr val="1C1D22"/>
                </a:solidFill>
              </a:rPr>
              <a:t>выход: /tunnel_od/result — JSON на кадр, /tunnel_od/markers — RViz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89120"/>
            <a:ext cx="4983480" cy="1691640"/>
          </a:xfrm>
          <a:prstGeom prst="roundRect">
            <a:avLst>
              <a:gd name="adj" fmla="val 1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44805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400" b="1">
                <a:solidFill>
                  <a:srgbClr val="FF0053"/>
                </a:solidFill>
              </a:rPr>
              <a:t>Принцип безопасности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828032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200" b="0">
                <a:solidFill>
                  <a:srgbClr val="1C1D22"/>
                </a:solidFill>
              </a:rPr>
              <a:t>Не говорим «путь свободен», если не видим путь: без оси пути статус — «нет данных», а не «свободно». «Свободно» — только при видимости пути ≥ 30 м. Приоритет: СТОП &gt; нет данных &gt; ВНИМАНИЕ &gt; свободно.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1399032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Габарит: высота 3,0 м в ближней зоне (~40 м) — оборванные кабели сверху, дальше 1,5 м; ширина 2,0 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2414016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Пустое облако, скачок и откат времени, повтор кадра — без падения, статус «нет данных»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419856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Docker на любом uid; записи .db3 и .mcap; топик и оси определяются по записи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4434840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Детерминированный режим оценки: два прогона дают побитово одинаковый результат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5449824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Тесты: gtest (C++) и pytest; офлайн-оценка python -m evaluation с HTML-отчётом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10058400" cy="552061"/>
          </a:xfrm>
        </p:spPr>
        <p:txBody>
          <a:bodyPr/>
          <a:lstStyle/>
          <a:p>
            <a:r>
              <a:rPr lang="ru-RU" sz="2000">
                <a:solidFill>
                  <a:srgbClr val="FFFFFF"/>
                </a:solidFill>
              </a:rPr>
              <a:t>СООТВЕТСТВИЕ ТЗ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953600"/>
              </p:ext>
            </p:extLst>
          </p:nvPr>
        </p:nvGraphicFramePr>
        <p:xfrm>
          <a:off x="566928" y="1536192"/>
          <a:ext cx="11064240" cy="4224528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Требование ТЗ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Статус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Доказательство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5209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D22"/>
                          </a:solidFill>
                        </a:rPr>
                        <a:t>Ubuntu 22.04, ROS 2 Humble, Docker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20978"/>
                          </a:solidFill>
                        </a:rPr>
                        <a:t>выполнено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</a:rPr>
                        <a:t>Dockerfile на ros:humble; зависимости ставятся при сборке; docker compose up play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D22"/>
                          </a:solidFill>
                        </a:rPr>
                        <a:t>Выход: есть препятствие + расстояние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20978"/>
                          </a:solidFill>
                        </a:rPr>
                        <a:t>выполнено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</a:rPr>
                        <a:t>/tunnel_od/result на каждый кадр: status, distance_m; objects[] — положение, размер, уверенность (тип не определяется)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4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C1D22"/>
                          </a:solidFill>
                        </a:rPr>
                        <a:t>Габарит</a:t>
                      </a:r>
                      <a:r>
                        <a:rPr sz="1100" b="1" dirty="0">
                          <a:solidFill>
                            <a:srgbClr val="1C1D22"/>
                          </a:solidFill>
                        </a:rPr>
                        <a:t> 2,1 × 3 </a:t>
                      </a:r>
                      <a:r>
                        <a:rPr sz="1100" b="1" dirty="0" err="1">
                          <a:solidFill>
                            <a:srgbClr val="1C1D22"/>
                          </a:solidFill>
                        </a:rPr>
                        <a:t>м</a:t>
                      </a:r>
                      <a:endParaRPr sz="1100" b="1" dirty="0">
                        <a:solidFill>
                          <a:srgbClr val="1C1D22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510978"/>
                          </a:solidFill>
                        </a:rPr>
                        <a:t>частично</a:t>
                      </a:r>
                      <a:endParaRPr sz="1100" b="1" dirty="0">
                        <a:solidFill>
                          <a:srgbClr val="510978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</a:rPr>
                        <a:t>0,15–3,0 м над рельсом, ±1,0 м от оси; ширина 2,0 м из-за ошибки оси 5–30 см; в дальней зоне верх 1,5 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D22"/>
                          </a:solidFill>
                        </a:rPr>
                        <a:t>Объект от 300 × 300 × 100 мм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510978"/>
                          </a:solidFill>
                        </a:rPr>
                        <a:t>частично</a:t>
                      </a:r>
                      <a:endParaRPr sz="1100" b="1" dirty="0">
                        <a:solidFill>
                          <a:srgbClr val="510978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</a:rPr>
                        <a:t>кубы 0,4 и 0,2 м при подъезде; плоский предмет ниже 0,15 м над рельсом не виден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4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C1D22"/>
                          </a:solidFill>
                        </a:rPr>
                        <a:t>Оборванные</a:t>
                      </a:r>
                      <a:r>
                        <a:rPr sz="1100" b="1" dirty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C1D22"/>
                          </a:solidFill>
                        </a:rPr>
                        <a:t>кабели</a:t>
                      </a:r>
                      <a:r>
                        <a:rPr sz="1100" b="1" dirty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C1D22"/>
                          </a:solidFill>
                        </a:rPr>
                        <a:t>в</a:t>
                      </a:r>
                      <a:r>
                        <a:rPr sz="1100" b="1" dirty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C1D22"/>
                          </a:solidFill>
                        </a:rPr>
                        <a:t>габарите</a:t>
                      </a:r>
                      <a:endParaRPr sz="1100" b="1" dirty="0">
                        <a:solidFill>
                          <a:srgbClr val="1C1D22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510978"/>
                          </a:solidFill>
                        </a:rPr>
                        <a:t>частично</a:t>
                      </a:r>
                      <a:endParaRPr sz="1100" b="1" dirty="0">
                        <a:solidFill>
                          <a:srgbClr val="510978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</a:rPr>
                        <a:t>стержень со свода (объект №10) — СТОП с 22 м; вдали выше 1,5 м не ловится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D22"/>
                          </a:solidFill>
                        </a:rPr>
                        <a:t>Пропуски и ложные срабатывания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520978"/>
                          </a:solidFill>
                        </a:rPr>
                        <a:t>выполнено</a:t>
                      </a:r>
                      <a:endParaRPr sz="1100" b="1" dirty="0">
                        <a:solidFill>
                          <a:srgbClr val="520978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</a:rPr>
                        <a:t>бэг организаторов: СТОП на 8 из 8 в габарите, 0 вне габарита; ложных СТОП-кадров 4 из 1510; пустые записи — 0,4 % кадров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4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D22"/>
                          </a:solidFill>
                        </a:rPr>
                        <a:t>Работа на новых данных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520978"/>
                          </a:solidFill>
                        </a:rPr>
                        <a:t>выполнено</a:t>
                      </a:r>
                      <a:endParaRPr sz="1100" b="1" dirty="0">
                        <a:solidFill>
                          <a:srgbClr val="520978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</a:rPr>
                        <a:t>new_data (18,8 мин) при подборе не использовалась: кадров СТОП 2,6 %; на 8 отрезках 5,2 % против 14,6 %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D22"/>
                          </a:solidFill>
                        </a:rPr>
                        <a:t>Дальность 100 / 200 / 300 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510978"/>
                          </a:solidFill>
                        </a:rPr>
                        <a:t>частично</a:t>
                      </a:r>
                      <a:endParaRPr sz="1100" b="1" dirty="0">
                        <a:solidFill>
                          <a:srgbClr val="510978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</a:rPr>
                        <a:t>человек при подъезде со 170 м — СТОП на 160 м, со 220 м — 187 м; отражений дальше ~210 м нет — 300 м недостижимы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4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D22"/>
                          </a:solidFill>
                        </a:rPr>
                        <a:t>Задержка, FPS, CPU / GPU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520978"/>
                          </a:solidFill>
                        </a:rPr>
                        <a:t>выполнено</a:t>
                      </a:r>
                      <a:endParaRPr sz="1100" b="1" dirty="0">
                        <a:solidFill>
                          <a:srgbClr val="520978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</a:rPr>
                        <a:t>на 4 ядрах CPU: задержка узла p50 34 мс, e2e p95 70 мс при бюджете 100 мс, 1510 кадров из 1510; GPU не нужен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D22"/>
                          </a:solidFill>
                        </a:rPr>
                        <a:t>Видео, демо, тесты, документация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20978"/>
                          </a:solidFill>
                        </a:rPr>
                        <a:t>выполнено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4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1C1D22"/>
                          </a:solidFill>
                        </a:rPr>
                        <a:t>видео; офлайн-плеер demo.html; RViz2 в браузере (docker compose up demo); gtest 18 + pytest 22 в Docker — все пройдены; README и docs/</a:t>
                      </a:r>
                      <a:r>
                        <a:rPr sz="1000" b="0" dirty="0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 err="1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 err="1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 err="1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 err="1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 err="1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 err="1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 err="1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 err="1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 err="1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 err="1">
                          <a:solidFill>
                            <a:srgbClr val="1C1D22"/>
                          </a:solidFill>
                        </a:rPr>
                        <a:t/>
                      </a:r>
                      <a:r>
                        <a:rPr sz="1000" b="0" dirty="0">
                          <a:solidFill>
                            <a:srgbClr val="1C1D22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2E9"/>
                      </a:solidFill>
                      <a:prstDash val="solid"/>
                    </a:lnL>
                    <a:lnR w="9525" cap="flat" cmpd="sng" algn="ctr">
                      <a:solidFill>
                        <a:srgbClr val="D9D2E9"/>
                      </a:solidFill>
                      <a:prstDash val="solid"/>
                    </a:lnR>
                    <a:lnT w="9525" cap="flat" cmpd="sng" algn="ctr">
                      <a:solidFill>
                        <a:srgbClr val="D9D2E9"/>
                      </a:solidFill>
                      <a:prstDash val="solid"/>
                    </a:lnT>
                    <a:lnB w="9525" cap="flat" cmpd="sng" algn="ctr">
                      <a:solidFill>
                        <a:srgbClr val="D9D2E9"/>
                      </a:solidFill>
                      <a:prstDash val="solid"/>
                    </a:lnB>
                    <a:solidFill>
                      <a:srgbClr val="F4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66928" y="6144768"/>
            <a:ext cx="10515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000" b="0" u="sng" dirty="0">
                <a:solidFill>
                  <a:srgbClr val="6B6B78"/>
                </a:solidFill>
                <a:hlinkClick r:id="rId3"/>
              </a:rPr>
              <a:t>Подробно — </a:t>
            </a:r>
            <a:r>
              <a:rPr lang="ru-RU" sz="1000" b="0" u="sng" dirty="0" err="1">
                <a:solidFill>
                  <a:srgbClr val="6B6B78"/>
                </a:solidFill>
                <a:hlinkClick r:id="rId3"/>
              </a:rPr>
              <a:t>docs</a:t>
            </a:r>
            <a:r>
              <a:rPr lang="ru-RU" sz="1000" b="0" u="sng" dirty="0">
                <a:solidFill>
                  <a:srgbClr val="6B6B78"/>
                </a:solidFill>
                <a:hlinkClick r:id="rId3"/>
              </a:rPr>
              <a:t>/</a:t>
            </a:r>
            <a:r>
              <a:rPr lang="ru-RU" sz="1000" b="0" u="sng" dirty="0" err="1">
                <a:solidFill>
                  <a:srgbClr val="6B6B78"/>
                </a:solidFill>
                <a:hlinkClick r:id="rId3"/>
              </a:rPr>
              <a:t>tz_compliance.md</a:t>
            </a:r>
            <a:endParaRPr lang="ru-RU" sz="1000" b="0" u="sng" dirty="0">
              <a:solidFill>
                <a:srgbClr val="6B6B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622444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10058400" cy="376138"/>
          </a:xfrm>
        </p:spPr>
        <p:txBody>
          <a:bodyPr/>
          <a:lstStyle/>
          <a:p>
            <a:r>
              <a:rPr lang="ru-RU"/>
              <a:t>ПОДХОД КОМАНДЫ: ВАРИАНТЫ A → 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" y="132588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6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137160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Разведка данных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7" y="1828800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ложные точки дают ошибки оси в кривых, а не лужи и знаки → силы в модель пути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292608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6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607" y="297180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Правило отбора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5607" y="3429000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изменение включаем, только если растёт дальность и не растут тревоги на отложенной new_data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452628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600" b="1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35607" y="457200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A → B: ось по стенам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35606" y="5029200"/>
            <a:ext cx="4660393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 dirty="0">
                <a:solidFill>
                  <a:srgbClr val="1C1D22"/>
                </a:solidFill>
              </a:rPr>
              <a:t>эпизодов в час 1091 → 349; человек со 170 м: 116 → 158 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0488" y="132588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600" b="1">
                <a:solidFill>
                  <a:srgbClr val="FF0053"/>
                </a:solidFill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04888" y="137160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D: накопление по кадрам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4888" y="1828800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объект на 56 м: 55 → 183 кадров из 201, но тревог больше (16,1 %)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0488" y="292608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600" b="1">
                <a:solidFill>
                  <a:srgbClr val="FF0053"/>
                </a:solidFill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04888" y="297180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E, I: отсев конструкций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04888" y="3429000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кабели и стены у края коридора: кадров с тревогой 10,8 → 9,7 %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0488" y="452628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600" b="1">
                <a:solidFill>
                  <a:srgbClr val="FF0053"/>
                </a:solidFill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88" y="457200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600" b="1">
                <a:solidFill>
                  <a:srgbClr val="520978"/>
                </a:solidFill>
              </a:rPr>
              <a:t>L → P: дальняя зона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4888" y="5029200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300" b="0">
                <a:solidFill>
                  <a:srgbClr val="1C1D22"/>
                </a:solidFill>
              </a:rPr>
              <a:t>узкая L теряет реальный объект (42 кадра); P — 2,4 %, 146 в час, 183 кадра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7" y="6115301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100" b="0" dirty="0">
                <a:solidFill>
                  <a:srgbClr val="6B6B78"/>
                </a:solidFill>
              </a:rPr>
              <a:t>Не вошло: нейросети — нет разметки, сеть запомнила бы шесть тоннелей; карта тоннеля — на проверке нет повторных проездов.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8C35AB9-2874-175C-0DFD-4B4B293AFCCA}"/>
              </a:ext>
            </a:extLst>
          </p:cNvPr>
          <p:cNvCxnSpPr>
            <a:cxnSpLocks/>
          </p:cNvCxnSpPr>
          <p:nvPr/>
        </p:nvCxnSpPr>
        <p:spPr>
          <a:xfrm>
            <a:off x="585926" y="2529448"/>
            <a:ext cx="1082758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2C644E5-541E-2618-7287-CA12AA8A9E40}"/>
              </a:ext>
            </a:extLst>
          </p:cNvPr>
          <p:cNvCxnSpPr>
            <a:cxnSpLocks/>
          </p:cNvCxnSpPr>
          <p:nvPr/>
        </p:nvCxnSpPr>
        <p:spPr>
          <a:xfrm>
            <a:off x="585926" y="4297680"/>
            <a:ext cx="1082758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4706877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10058400" cy="376138"/>
          </a:xfrm>
        </p:spPr>
        <p:txBody>
          <a:bodyPr/>
          <a:lstStyle/>
          <a:p>
            <a:r>
              <a:rPr lang="ru-RU"/>
              <a:t>ОГРАНИЧЕНИЯ И РАЗВИТИЕ</a:t>
            </a:r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58368" y="320040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800" b="1">
                <a:solidFill>
                  <a:srgbClr val="520978"/>
                </a:solidFill>
              </a:rPr>
              <a:t>Ограничения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8368" y="3657600"/>
            <a:ext cx="329184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600"/>
              </a:spcAft>
              <a:buClr>
                <a:srgbClr val="FF0053"/>
              </a:buClr>
              <a:buChar char="•"/>
            </a:pPr>
            <a:r>
              <a:rPr lang="ru-RU" sz="1400" b="0">
                <a:solidFill>
                  <a:srgbClr val="1C1D22"/>
                </a:solidFill>
              </a:rPr>
              <a:t>объект у самого края габарита — только ВНИМАНИЕ</a:t>
            </a:r>
          </a:p>
          <a:p>
            <a:pPr marL="182880" indent="-182880">
              <a:spcAft>
                <a:spcPts val="600"/>
              </a:spcAft>
              <a:buClr>
                <a:srgbClr val="FF0053"/>
              </a:buClr>
              <a:buChar char="•"/>
            </a:pPr>
            <a:r>
              <a:rPr lang="ru-RU" sz="1400" b="0">
                <a:solidFill>
                  <a:srgbClr val="1C1D22"/>
                </a:solidFill>
              </a:rPr>
              <a:t>предметы ниже 0,15 м над рельсом не видны</a:t>
            </a:r>
          </a:p>
          <a:p>
            <a:pPr marL="182880" indent="-182880">
              <a:spcAft>
                <a:spcPts val="600"/>
              </a:spcAft>
              <a:buClr>
                <a:srgbClr val="FF0053"/>
              </a:buClr>
              <a:buChar char="•"/>
            </a:pPr>
            <a:r>
              <a:rPr lang="ru-RU" sz="1400" b="0">
                <a:solidFill>
                  <a:srgbClr val="1C1D22"/>
                </a:solidFill>
              </a:rPr>
              <a:t>за поворотом путь закрыт стеной</a:t>
            </a:r>
          </a:p>
          <a:p>
            <a:pPr marL="182880" indent="-182880">
              <a:spcAft>
                <a:spcPts val="600"/>
              </a:spcAft>
              <a:buClr>
                <a:srgbClr val="FF0053"/>
              </a:buClr>
              <a:buChar char="•"/>
            </a:pPr>
            <a:r>
              <a:rPr lang="ru-RU" sz="1400" b="0">
                <a:solidFill>
                  <a:srgbClr val="1C1D22"/>
                </a:solidFill>
              </a:rPr>
              <a:t>лидар не даёт отражений дальше ~210 м — 300 м физически недостижимы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53712" y="320040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800" b="1">
                <a:solidFill>
                  <a:srgbClr val="520978"/>
                </a:solidFill>
              </a:rPr>
              <a:t>Следующий шаг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53712" y="3657600"/>
            <a:ext cx="329184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600"/>
              </a:spcAft>
              <a:buClr>
                <a:srgbClr val="FF0053"/>
              </a:buClr>
              <a:buChar char="•"/>
            </a:pPr>
            <a:r>
              <a:rPr lang="ru-RU" sz="1400" b="0">
                <a:solidFill>
                  <a:srgbClr val="1C1D22"/>
                </a:solidFill>
              </a:rPr>
              <a:t>сравнение с фоном тоннеля: низкие предметы и объекты у края</a:t>
            </a:r>
          </a:p>
          <a:p>
            <a:pPr marL="182880" indent="-182880">
              <a:spcAft>
                <a:spcPts val="600"/>
              </a:spcAft>
              <a:buClr>
                <a:srgbClr val="FF0053"/>
              </a:buClr>
              <a:buChar char="•"/>
            </a:pPr>
            <a:r>
              <a:rPr lang="ru-RU" sz="1400" b="0">
                <a:solidFill>
                  <a:srgbClr val="1C1D22"/>
                </a:solidFill>
              </a:rPr>
              <a:t>накопление точек за несколько кадров</a:t>
            </a:r>
          </a:p>
          <a:p>
            <a:pPr marL="182880" indent="-182880">
              <a:spcAft>
                <a:spcPts val="600"/>
              </a:spcAft>
              <a:buClr>
                <a:srgbClr val="FF0053"/>
              </a:buClr>
              <a:buChar char="•"/>
            </a:pPr>
            <a:r>
              <a:rPr lang="ru-RU" sz="1400" b="0">
                <a:solidFill>
                  <a:srgbClr val="1C1D22"/>
                </a:solidFill>
              </a:rPr>
              <a:t>проверка отклоняющегося пути на стрелке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58200" y="320040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800" b="1">
                <a:solidFill>
                  <a:srgbClr val="520978"/>
                </a:solidFill>
              </a:rPr>
              <a:t>Внедрение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58200" y="3657600"/>
            <a:ext cx="329184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600"/>
              </a:spcAft>
              <a:buClr>
                <a:srgbClr val="FF0053"/>
              </a:buClr>
              <a:buChar char="•"/>
            </a:pPr>
            <a:r>
              <a:rPr lang="ru-RU" sz="1400" b="0">
                <a:solidFill>
                  <a:srgbClr val="1C1D22"/>
                </a:solidFill>
              </a:rPr>
              <a:t>ROS-топик с JSON — стандартный интерфейс</a:t>
            </a:r>
          </a:p>
          <a:p>
            <a:pPr marL="182880" indent="-182880">
              <a:spcAft>
                <a:spcPts val="600"/>
              </a:spcAft>
              <a:buClr>
                <a:srgbClr val="FF0053"/>
              </a:buClr>
              <a:buChar char="•"/>
            </a:pPr>
            <a:r>
              <a:rPr lang="ru-RU" sz="1400" b="0">
                <a:solidFill>
                  <a:srgbClr val="1C1D22"/>
                </a:solidFill>
              </a:rPr>
              <a:t>CPU без GPU — путь к бортовому вычислителю</a:t>
            </a:r>
          </a:p>
          <a:p>
            <a:pPr marL="182880" indent="-182880">
              <a:spcAft>
                <a:spcPts val="600"/>
              </a:spcAft>
              <a:buClr>
                <a:srgbClr val="FF0053"/>
              </a:buClr>
              <a:buChar char="•"/>
            </a:pPr>
            <a:r>
              <a:rPr lang="ru-RU" sz="1400" b="0">
                <a:solidFill>
                  <a:srgbClr val="1C1D22"/>
                </a:solidFill>
              </a:rPr>
              <a:t>без разметки и карт — новые линии сразу</a:t>
            </a:r>
          </a:p>
        </p:txBody>
      </p:sp>
      <p:pic>
        <p:nvPicPr>
          <p:cNvPr id="115" name="Icon next" descr="n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559" y="1617156"/>
            <a:ext cx="900000" cy="900000"/>
          </a:xfrm>
          <a:prstGeom prst="rect">
            <a:avLst/>
          </a:prstGeom>
        </p:spPr>
      </p:pic>
      <p:pic>
        <p:nvPicPr>
          <p:cNvPr id="116" name="Icon limit" descr="lim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315" y="1617156"/>
            <a:ext cx="900000" cy="900000"/>
          </a:xfrm>
          <a:prstGeom prst="rect">
            <a:avLst/>
          </a:prstGeom>
        </p:spPr>
      </p:pic>
      <p:pic>
        <p:nvPicPr>
          <p:cNvPr id="117" name="Icon deploy" descr="deplo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307" y="1647187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11171</TotalTime>
  <Words>1977</Words>
  <Application>Microsoft Macintosh PowerPoint</Application>
  <PresentationFormat>Широкоэкранный</PresentationFormat>
  <Paragraphs>255</Paragraphs>
  <Slides>17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Arial</vt:lpstr>
      <vt:lpstr>Calibri</vt:lpstr>
      <vt:lpstr>Courier New</vt:lpstr>
      <vt:lpstr>Lato Light</vt:lpstr>
      <vt:lpstr>Montserrat</vt:lpstr>
      <vt:lpstr>Poppins Light</vt:lpstr>
      <vt:lpstr>Wingdings</vt:lpstr>
      <vt:lpstr>Для Академия инноваторов 16_9</vt:lpstr>
      <vt:lpstr>Обнаружение препятствий в тоннеле метро по 3D-лидару</vt:lpstr>
      <vt:lpstr>Презентация PowerPoint</vt:lpstr>
      <vt:lpstr>УЧАСТНИКИ</vt:lpstr>
      <vt:lpstr>КОМАНДА И ЗАДАЧА</vt:lpstr>
      <vt:lpstr>КОРОТКО О РЕШЕНИИ</vt:lpstr>
      <vt:lpstr>КАК РАБОТАЕТ ДЕТЕКТОР</vt:lpstr>
      <vt:lpstr>ГЛАВНЫЙ ИСТОЧНИК ЛОЖНЫХ ТРЕВОГ — КРИВЫЕ</vt:lpstr>
      <vt:lpstr>ДЕМО</vt:lpstr>
      <vt:lpstr>БЭГ ОРГАНИЗАТОРОВ: 10 ОБЪЕКТОВ</vt:lpstr>
      <vt:lpstr>ЛОЖНЫЕ ТРЕВОГИ: В 6 РАЗ МЕНЬШЕ</vt:lpstr>
      <vt:lpstr>ДАЛЬНОСТЬ ОБНАРУЖЕНИЯ</vt:lpstr>
      <vt:lpstr>СКОРОСТЬ</vt:lpstr>
      <vt:lpstr>СЛОЖНЫЕ УЧАСТКИ</vt:lpstr>
      <vt:lpstr>ТЕХНИЧЕСКАЯ ПРОРАБОТКА</vt:lpstr>
      <vt:lpstr>СООТВЕТСТВИЕ ТЗ</vt:lpstr>
      <vt:lpstr>ПОДХОД КОМАНДЫ: ВАРИАНТЫ A → P</vt:lpstr>
      <vt:lpstr>ОГРАНИЧЕНИЯ И РАЗВИТИЕ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Обнаружение препятствий в тоннеле метро по 3D-лидару</dc:title>
  <dc:creator>Голуби</dc:creator>
  <dc:description>Команда «Голуби»: Павлов Иван Александрович; Спирин Макар Юрьевич; Аргун Владислав Гарриевич (капитан); Киреев Станислав Дмитриевич</dc:description>
  <cp:lastModifiedBy>Vladislav Argun</cp:lastModifiedBy>
  <cp:revision>99</cp:revision>
  <dcterms:created xsi:type="dcterms:W3CDTF">2023-05-15T07:36:23Z</dcterms:created>
  <dcterms:modified xsi:type="dcterms:W3CDTF">2026-09-29T12:48:03Z</dcterms:modified>
</cp:coreProperties>
</file>